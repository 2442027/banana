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F3D32D-9AFA-4405-901A-82B1C43EC759}" v="1" dt="2026-01-18T01:09:13.04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0" d="100"/>
          <a:sy n="40" d="100"/>
        </p:scale>
        <p:origin x="82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智希 栗原" userId="104d6cf81d985a35" providerId="LiveId" clId="{D4001715-0AD4-4354-87D8-45A76E689739}"/>
    <pc:docChg chg="custSel modSld">
      <pc:chgData name="智希 栗原" userId="104d6cf81d985a35" providerId="LiveId" clId="{D4001715-0AD4-4354-87D8-45A76E689739}" dt="2026-01-18T01:09:19.556" v="4" actId="1076"/>
      <pc:docMkLst>
        <pc:docMk/>
      </pc:docMkLst>
      <pc:sldChg chg="modSp mod">
        <pc:chgData name="智希 栗原" userId="104d6cf81d985a35" providerId="LiveId" clId="{D4001715-0AD4-4354-87D8-45A76E689739}" dt="2026-01-18T01:09:19.556" v="4" actId="1076"/>
        <pc:sldMkLst>
          <pc:docMk/>
          <pc:sldMk cId="2486458423" sldId="268"/>
        </pc:sldMkLst>
        <pc:spChg chg="mod">
          <ac:chgData name="智希 栗原" userId="104d6cf81d985a35" providerId="LiveId" clId="{D4001715-0AD4-4354-87D8-45A76E689739}" dt="2026-01-18T01:09:19.556" v="4" actId="1076"/>
          <ac:spMkLst>
            <pc:docMk/>
            <pc:sldMk cId="2486458423" sldId="268"/>
            <ac:spMk id="7" creationId="{636B6F30-1512-CD49-88FF-7C4C161177A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74A859-EA85-8B06-8724-58CE6829615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2E7E292-60C6-0EA3-FAD4-3D28352A45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C24FC21-60B7-BAE3-8687-3047DE2533E8}"/>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5" name="フッター プレースホルダー 4">
            <a:extLst>
              <a:ext uri="{FF2B5EF4-FFF2-40B4-BE49-F238E27FC236}">
                <a16:creationId xmlns:a16="http://schemas.microsoft.com/office/drawing/2014/main" id="{B426713B-C165-1883-452B-675D0929AE9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E7107E6-325B-301E-C957-5BE29338C808}"/>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995488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3D30D8-F18C-1D5B-5D5C-B82A7A0291D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A56937-509E-E6AA-1C39-8F63924919E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6F54A7A-D880-8340-123E-927CE34357E0}"/>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5" name="フッター プレースホルダー 4">
            <a:extLst>
              <a:ext uri="{FF2B5EF4-FFF2-40B4-BE49-F238E27FC236}">
                <a16:creationId xmlns:a16="http://schemas.microsoft.com/office/drawing/2014/main" id="{ECE10545-8D7B-B5CA-3C3A-4F6953308D2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F2FA080-1130-C344-1684-5684D46F58D4}"/>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1327393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072239-C612-5B35-D205-9A743F1C122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449B1FB-A5D6-D806-CB8F-761EE9CA26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72CC56C-42A3-F868-193F-B50A99B31246}"/>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5" name="フッター プレースホルダー 4">
            <a:extLst>
              <a:ext uri="{FF2B5EF4-FFF2-40B4-BE49-F238E27FC236}">
                <a16:creationId xmlns:a16="http://schemas.microsoft.com/office/drawing/2014/main" id="{B2D3F006-6CD1-C5A2-7AD2-EF63BAAA973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003383A-CE7E-C1D4-297D-A328488EF452}"/>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4126216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64DFD5-1B7C-4030-A5A0-122E0200C94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B144889-3E31-5DB8-DD92-AE809AB0851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08479DF-EAB6-48C9-89C5-327A0869F97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CE6DD97-777B-D2FD-DDD7-49E14132C351}"/>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6" name="フッター プレースホルダー 5">
            <a:extLst>
              <a:ext uri="{FF2B5EF4-FFF2-40B4-BE49-F238E27FC236}">
                <a16:creationId xmlns:a16="http://schemas.microsoft.com/office/drawing/2014/main" id="{43EEEFB7-3B91-5755-1D0C-5F0A5A6FB0E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773333C-8A5F-E476-9097-AE0452738F95}"/>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414216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340D64-14CA-4A9F-3C33-FA607A81D59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272FE5F-7C7B-A909-51BD-31B3A3F997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EAF3FE2-736C-2951-8097-5B3FB4F1678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559A1189-21DB-3F10-DAA6-C9ACBB4659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1AB2137-EC02-A55C-80FC-B4D8EBC7A0F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EAC7C74-5FF3-E70E-71C6-789BCECE4216}"/>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8" name="フッター プレースホルダー 7">
            <a:extLst>
              <a:ext uri="{FF2B5EF4-FFF2-40B4-BE49-F238E27FC236}">
                <a16:creationId xmlns:a16="http://schemas.microsoft.com/office/drawing/2014/main" id="{AA6AB8D9-0576-E598-2342-351E2C9BD6F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F0EA874-B4FF-B73F-D343-27D7330E7E78}"/>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1928280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7644E5-E2FB-85B8-D8E2-19FC7CD0863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62BE64D-3486-C597-901D-B21AE16AD75B}"/>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4" name="フッター プレースホルダー 3">
            <a:extLst>
              <a:ext uri="{FF2B5EF4-FFF2-40B4-BE49-F238E27FC236}">
                <a16:creationId xmlns:a16="http://schemas.microsoft.com/office/drawing/2014/main" id="{67C13E2B-0BED-DDDF-6431-3C8914BDDFE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9CEB314-00E2-88E7-44C2-B23E7121DC5D}"/>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1903982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0687F69-3C09-DDEE-F76E-2FD01E1D0E1C}"/>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3" name="フッター プレースホルダー 2">
            <a:extLst>
              <a:ext uri="{FF2B5EF4-FFF2-40B4-BE49-F238E27FC236}">
                <a16:creationId xmlns:a16="http://schemas.microsoft.com/office/drawing/2014/main" id="{C99BED43-7BBB-1EF9-645A-AD9C9113DA4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A3C0162-B1F6-DED7-7A0D-6C8DD0F2921C}"/>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1825461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10C674-5A98-DD65-B5E7-0DEE897F870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3CFB038-3BD2-D49B-10B0-D6E1DC24E3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2D0EC4E-7FD5-E320-CFB2-469A7B6E0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9C58294-A5A6-EBFE-438F-BB0C4049FE7F}"/>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6" name="フッター プレースホルダー 5">
            <a:extLst>
              <a:ext uri="{FF2B5EF4-FFF2-40B4-BE49-F238E27FC236}">
                <a16:creationId xmlns:a16="http://schemas.microsoft.com/office/drawing/2014/main" id="{EB3F1422-77AA-2B23-135E-D8E84212D73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AB78843-AFDE-218F-015B-ED1AA28C00DC}"/>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1715329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AAAB77-47C6-ED25-49C0-6305C115F1B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18D832D-36F2-6F68-09B1-626EA0F160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4040983-786B-2771-1094-AF25971E4F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D2F93D4-9086-EAFC-0DCE-D6F3083ACDBD}"/>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6" name="フッター プレースホルダー 5">
            <a:extLst>
              <a:ext uri="{FF2B5EF4-FFF2-40B4-BE49-F238E27FC236}">
                <a16:creationId xmlns:a16="http://schemas.microsoft.com/office/drawing/2014/main" id="{C404D2B5-BC89-4AB9-EA64-2CB74ACFB07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8B5154C-B05A-1E70-0930-2A119F7F8A59}"/>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2882191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8DD55F-08A5-8EF0-FB6E-E0445E327E7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9736E73-EB90-2680-2A0D-7CF7ADCDFBE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17E5EE0-00FF-F899-0417-8F9AF7753CA2}"/>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5" name="フッター プレースホルダー 4">
            <a:extLst>
              <a:ext uri="{FF2B5EF4-FFF2-40B4-BE49-F238E27FC236}">
                <a16:creationId xmlns:a16="http://schemas.microsoft.com/office/drawing/2014/main" id="{22AD7546-D84D-D380-095D-CA2D7420F0E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DBF2EEB-6850-099F-6CF6-911714C43742}"/>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1860459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0290933D-BCCE-2359-2E28-E831DB9DBAA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285200-3695-452E-34AA-86DA2F7B728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3876729-2222-7518-958C-01892C1306A3}"/>
              </a:ext>
            </a:extLst>
          </p:cNvPr>
          <p:cNvSpPr>
            <a:spLocks noGrp="1"/>
          </p:cNvSpPr>
          <p:nvPr>
            <p:ph type="dt" sz="half" idx="10"/>
          </p:nvPr>
        </p:nvSpPr>
        <p:spPr/>
        <p:txBody>
          <a:bodyPr/>
          <a:lstStyle/>
          <a:p>
            <a:fld id="{023FC908-6807-4FE0-8574-A080BDCB0A11}" type="datetimeFigureOut">
              <a:rPr kumimoji="1" lang="ja-JP" altLang="en-US" smtClean="0"/>
              <a:t>2026/1/18</a:t>
            </a:fld>
            <a:endParaRPr kumimoji="1" lang="ja-JP" altLang="en-US"/>
          </a:p>
        </p:txBody>
      </p:sp>
      <p:sp>
        <p:nvSpPr>
          <p:cNvPr id="5" name="フッター プレースホルダー 4">
            <a:extLst>
              <a:ext uri="{FF2B5EF4-FFF2-40B4-BE49-F238E27FC236}">
                <a16:creationId xmlns:a16="http://schemas.microsoft.com/office/drawing/2014/main" id="{F072D82C-9675-6EBA-E0E1-E712B9A784A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D7A4C4-A773-6343-9B7A-1DB5F5880D6B}"/>
              </a:ext>
            </a:extLst>
          </p:cNvPr>
          <p:cNvSpPr>
            <a:spLocks noGrp="1"/>
          </p:cNvSpPr>
          <p:nvPr>
            <p:ph type="sldNum" sz="quarter" idx="12"/>
          </p:nvPr>
        </p:nvSpPr>
        <p:spPr/>
        <p:txBody>
          <a:body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160835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DA0865A-AA8E-7A8D-24E7-C97FEF7D7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CCA6C96-DF08-F857-BFA5-38D20F67A5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5627BCA-D406-2E74-E663-01725B9522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3FC908-6807-4FE0-8574-A080BDCB0A11}" type="datetimeFigureOut">
              <a:rPr kumimoji="1" lang="ja-JP" altLang="en-US" smtClean="0"/>
              <a:t>2026/1/18</a:t>
            </a:fld>
            <a:endParaRPr kumimoji="1" lang="ja-JP" altLang="en-US"/>
          </a:p>
        </p:txBody>
      </p:sp>
      <p:sp>
        <p:nvSpPr>
          <p:cNvPr id="5" name="フッター プレースホルダー 4">
            <a:extLst>
              <a:ext uri="{FF2B5EF4-FFF2-40B4-BE49-F238E27FC236}">
                <a16:creationId xmlns:a16="http://schemas.microsoft.com/office/drawing/2014/main" id="{0FE151A3-916E-7237-A8B0-DD74CFE484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0B1447B-9261-9C06-0E8E-B36966075C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F73F2A-3776-41C2-ABA1-AD2C5EC6EF39}" type="slidenum">
              <a:rPr kumimoji="1" lang="ja-JP" altLang="en-US" smtClean="0"/>
              <a:t>‹#›</a:t>
            </a:fld>
            <a:endParaRPr kumimoji="1" lang="ja-JP" altLang="en-US"/>
          </a:p>
        </p:txBody>
      </p:sp>
    </p:spTree>
    <p:extLst>
      <p:ext uri="{BB962C8B-B14F-4D97-AF65-F5344CB8AC3E}">
        <p14:creationId xmlns:p14="http://schemas.microsoft.com/office/powerpoint/2010/main" val="1880539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7C2306-8316-5AB1-78C9-DB98581B3A76}"/>
              </a:ext>
            </a:extLst>
          </p:cNvPr>
          <p:cNvSpPr>
            <a:spLocks noGrp="1"/>
          </p:cNvSpPr>
          <p:nvPr>
            <p:ph type="ctr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ゴルフクラブショップ</a:t>
            </a:r>
            <a:br>
              <a:rPr kumimoji="1" lang="en-US" altLang="ja-JP">
                <a:latin typeface="HGS創英角ｺﾞｼｯｸUB" panose="020B0900000000000000" pitchFamily="50" charset="-128"/>
                <a:ea typeface="HGS創英角ｺﾞｼｯｸUB" panose="020B0900000000000000" pitchFamily="50" charset="-128"/>
              </a:rPr>
            </a:br>
            <a:r>
              <a:rPr kumimoji="1" lang="ja-JP" altLang="en-US" dirty="0">
                <a:latin typeface="HGS創英角ｺﾞｼｯｸUB" panose="020B0900000000000000" pitchFamily="50" charset="-128"/>
                <a:ea typeface="HGS創英角ｺﾞｼｯｸUB" panose="020B0900000000000000" pitchFamily="50" charset="-128"/>
              </a:rPr>
              <a:t>在庫管理システム</a:t>
            </a:r>
          </a:p>
        </p:txBody>
      </p:sp>
      <p:sp>
        <p:nvSpPr>
          <p:cNvPr id="3" name="字幕 2">
            <a:extLst>
              <a:ext uri="{FF2B5EF4-FFF2-40B4-BE49-F238E27FC236}">
                <a16:creationId xmlns:a16="http://schemas.microsoft.com/office/drawing/2014/main" id="{B022617C-5679-97D6-F7DC-D218CE17E64D}"/>
              </a:ext>
            </a:extLst>
          </p:cNvPr>
          <p:cNvSpPr>
            <a:spLocks noGrp="1"/>
          </p:cNvSpPr>
          <p:nvPr>
            <p:ph type="subTitle" idx="1"/>
          </p:nvPr>
        </p:nvSpPr>
        <p:spPr>
          <a:xfrm>
            <a:off x="1524000" y="3602038"/>
            <a:ext cx="9144000" cy="2387600"/>
          </a:xfrm>
        </p:spPr>
        <p:txBody>
          <a:bodyPr>
            <a:normAutofit/>
          </a:bodyPr>
          <a:lstStyle/>
          <a:p>
            <a:r>
              <a:rPr kumimoji="1" lang="en-US" altLang="ja-JP" dirty="0" err="1">
                <a:latin typeface="HGSｺﾞｼｯｸE" panose="020B0900000000000000" pitchFamily="50" charset="-128"/>
                <a:ea typeface="HGSｺﾞｼｯｸE" panose="020B0900000000000000" pitchFamily="50" charset="-128"/>
              </a:rPr>
              <a:t>Group:Banana</a:t>
            </a:r>
            <a:endParaRPr kumimoji="1" lang="en-US" altLang="ja-JP" dirty="0">
              <a:latin typeface="HGSｺﾞｼｯｸE" panose="020B0900000000000000" pitchFamily="50" charset="-128"/>
              <a:ea typeface="HGSｺﾞｼｯｸE" panose="020B0900000000000000" pitchFamily="50" charset="-128"/>
            </a:endParaRPr>
          </a:p>
          <a:p>
            <a:r>
              <a:rPr kumimoji="1" lang="en-US" altLang="ja-JP" dirty="0">
                <a:latin typeface="HGSｺﾞｼｯｸE" panose="020B0900000000000000" pitchFamily="50" charset="-128"/>
                <a:ea typeface="HGSｺﾞｼｯｸE" panose="020B0900000000000000" pitchFamily="50" charset="-128"/>
              </a:rPr>
              <a:t>2442027</a:t>
            </a:r>
            <a:r>
              <a:rPr kumimoji="1" lang="ja-JP" altLang="en-US" dirty="0">
                <a:latin typeface="HGSｺﾞｼｯｸE" panose="020B0900000000000000" pitchFamily="50" charset="-128"/>
                <a:ea typeface="HGSｺﾞｼｯｸE" panose="020B0900000000000000" pitchFamily="50" charset="-128"/>
              </a:rPr>
              <a:t>木村圭秀</a:t>
            </a:r>
            <a:endParaRPr kumimoji="1" lang="en-US" altLang="ja-JP" dirty="0">
              <a:latin typeface="HGSｺﾞｼｯｸE" panose="020B0900000000000000" pitchFamily="50" charset="-128"/>
              <a:ea typeface="HGSｺﾞｼｯｸE" panose="020B0900000000000000" pitchFamily="50" charset="-128"/>
            </a:endParaRPr>
          </a:p>
          <a:p>
            <a:r>
              <a:rPr lang="en-US" altLang="ja-JP" dirty="0">
                <a:latin typeface="HGSｺﾞｼｯｸE" panose="020B0900000000000000" pitchFamily="50" charset="-128"/>
                <a:ea typeface="HGSｺﾞｼｯｸE" panose="020B0900000000000000" pitchFamily="50" charset="-128"/>
              </a:rPr>
              <a:t>2442030</a:t>
            </a:r>
            <a:r>
              <a:rPr lang="ja-JP" altLang="en-US" dirty="0">
                <a:latin typeface="HGSｺﾞｼｯｸE" panose="020B0900000000000000" pitchFamily="50" charset="-128"/>
                <a:ea typeface="HGSｺﾞｼｯｸE" panose="020B0900000000000000" pitchFamily="50" charset="-128"/>
              </a:rPr>
              <a:t>栗原智希</a:t>
            </a:r>
            <a:endParaRPr lang="en-US" altLang="ja-JP" dirty="0">
              <a:latin typeface="HGSｺﾞｼｯｸE" panose="020B0900000000000000" pitchFamily="50" charset="-128"/>
              <a:ea typeface="HGSｺﾞｼｯｸE" panose="020B0900000000000000" pitchFamily="50" charset="-128"/>
            </a:endParaRPr>
          </a:p>
          <a:p>
            <a:r>
              <a:rPr kumimoji="1" lang="en-US" altLang="ja-JP" dirty="0">
                <a:latin typeface="HGSｺﾞｼｯｸE" panose="020B0900000000000000" pitchFamily="50" charset="-128"/>
                <a:ea typeface="HGSｺﾞｼｯｸE" panose="020B0900000000000000" pitchFamily="50" charset="-128"/>
              </a:rPr>
              <a:t>2442059</a:t>
            </a:r>
            <a:r>
              <a:rPr kumimoji="1" lang="ja-JP" altLang="en-US" dirty="0">
                <a:latin typeface="HGSｺﾞｼｯｸE" panose="020B0900000000000000" pitchFamily="50" charset="-128"/>
                <a:ea typeface="HGSｺﾞｼｯｸE" panose="020B0900000000000000" pitchFamily="50" charset="-128"/>
              </a:rPr>
              <a:t>富田健児</a:t>
            </a:r>
            <a:endParaRPr kumimoji="1" lang="en-US" altLang="ja-JP" dirty="0">
              <a:latin typeface="HGSｺﾞｼｯｸE" panose="020B0900000000000000" pitchFamily="50" charset="-128"/>
              <a:ea typeface="HGSｺﾞｼｯｸE" panose="020B0900000000000000" pitchFamily="50" charset="-128"/>
            </a:endParaRPr>
          </a:p>
          <a:p>
            <a:r>
              <a:rPr lang="en-US" altLang="ja-JP" dirty="0">
                <a:latin typeface="HGSｺﾞｼｯｸE" panose="020B0900000000000000" pitchFamily="50" charset="-128"/>
                <a:ea typeface="HGSｺﾞｼｯｸE" panose="020B0900000000000000" pitchFamily="50" charset="-128"/>
              </a:rPr>
              <a:t>2442084</a:t>
            </a:r>
            <a:r>
              <a:rPr lang="ja-JP" altLang="en-US" dirty="0">
                <a:latin typeface="HGSｺﾞｼｯｸE" panose="020B0900000000000000" pitchFamily="50" charset="-128"/>
                <a:ea typeface="HGSｺﾞｼｯｸE" panose="020B0900000000000000" pitchFamily="50" charset="-128"/>
              </a:rPr>
              <a:t>森川優介</a:t>
            </a:r>
            <a:endParaRPr kumimoji="1" lang="ja-JP" altLang="en-US" dirty="0">
              <a:latin typeface="HGSｺﾞｼｯｸE" panose="020B0900000000000000" pitchFamily="50" charset="-128"/>
              <a:ea typeface="HGSｺﾞｼｯｸE" panose="020B0900000000000000" pitchFamily="50" charset="-128"/>
            </a:endParaRPr>
          </a:p>
        </p:txBody>
      </p:sp>
    </p:spTree>
    <p:extLst>
      <p:ext uri="{BB962C8B-B14F-4D97-AF65-F5344CB8AC3E}">
        <p14:creationId xmlns:p14="http://schemas.microsoft.com/office/powerpoint/2010/main" val="1029079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ADCA24-09AF-101F-245D-93224DA3DEBF}"/>
              </a:ext>
            </a:extLst>
          </p:cNvPr>
          <p:cNvSpPr>
            <a:spLocks noGrp="1"/>
          </p:cNvSpPr>
          <p:nvPr>
            <p:ph type="title"/>
          </p:nvPr>
        </p:nvSpPr>
        <p:spPr/>
        <p:txBody>
          <a:bodyPr>
            <a:normAutofit/>
          </a:bodyPr>
          <a:lstStyle/>
          <a:p>
            <a:r>
              <a:rPr kumimoji="1" lang="ja-JP" altLang="en-US" sz="5400" dirty="0">
                <a:latin typeface="HGP創英角ｺﾞｼｯｸUB" panose="020B0900000000000000" pitchFamily="50" charset="-128"/>
                <a:ea typeface="HGP創英角ｺﾞｼｯｸUB" panose="020B0900000000000000" pitchFamily="50" charset="-128"/>
              </a:rPr>
              <a:t>システムの内容</a:t>
            </a:r>
          </a:p>
        </p:txBody>
      </p:sp>
      <p:sp>
        <p:nvSpPr>
          <p:cNvPr id="3" name="コンテンツ プレースホルダー 2">
            <a:extLst>
              <a:ext uri="{FF2B5EF4-FFF2-40B4-BE49-F238E27FC236}">
                <a16:creationId xmlns:a16="http://schemas.microsoft.com/office/drawing/2014/main" id="{1102B332-9998-A6A1-BA58-B49F3653C4B6}"/>
              </a:ext>
            </a:extLst>
          </p:cNvPr>
          <p:cNvSpPr>
            <a:spLocks noGrp="1"/>
          </p:cNvSpPr>
          <p:nvPr>
            <p:ph idx="1"/>
          </p:nvPr>
        </p:nvSpPr>
        <p:spPr>
          <a:xfrm>
            <a:off x="838200" y="2141537"/>
            <a:ext cx="10994571" cy="4351338"/>
          </a:xfrm>
        </p:spPr>
        <p:txBody>
          <a:bodyPr>
            <a:normAutofit/>
          </a:bodyPr>
          <a:lstStyle/>
          <a:p>
            <a:r>
              <a:rPr kumimoji="1" lang="ja-JP" altLang="en-US" sz="3600" b="1" dirty="0"/>
              <a:t>商品検索と在庫管理を一括して操作できるシステム</a:t>
            </a:r>
            <a:endParaRPr kumimoji="1" lang="en-US" altLang="ja-JP" sz="3600" b="1" dirty="0"/>
          </a:p>
          <a:p>
            <a:endParaRPr kumimoji="1" lang="en-US" altLang="ja-JP" sz="3600" b="1" dirty="0"/>
          </a:p>
          <a:p>
            <a:r>
              <a:rPr kumimoji="1" lang="ja-JP" altLang="en-US" sz="3600" b="1" dirty="0"/>
              <a:t>お客様の要望に沿って商品</a:t>
            </a:r>
            <a:r>
              <a:rPr lang="ja-JP" altLang="en-US" sz="3600" b="1" dirty="0"/>
              <a:t>を検索し、在庫状況と合わせることで最適な提案をすることができる</a:t>
            </a:r>
            <a:endParaRPr kumimoji="1" lang="ja-JP" altLang="en-US" sz="3600" b="1" dirty="0"/>
          </a:p>
        </p:txBody>
      </p:sp>
    </p:spTree>
    <p:extLst>
      <p:ext uri="{BB962C8B-B14F-4D97-AF65-F5344CB8AC3E}">
        <p14:creationId xmlns:p14="http://schemas.microsoft.com/office/powerpoint/2010/main" val="2634499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FD858-8086-017B-B36A-9776B67C22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A70759-333F-13A7-6776-86280E8B99FE}"/>
              </a:ext>
            </a:extLst>
          </p:cNvPr>
          <p:cNvSpPr>
            <a:spLocks noGrp="1"/>
          </p:cNvSpPr>
          <p:nvPr>
            <p:ph type="title"/>
          </p:nvPr>
        </p:nvSpPr>
        <p:spPr/>
        <p:txBody>
          <a:bodyPr>
            <a:normAutofit/>
          </a:bodyPr>
          <a:lstStyle/>
          <a:p>
            <a:r>
              <a:rPr kumimoji="1" lang="ja-JP" altLang="en-US" sz="5400" dirty="0">
                <a:latin typeface="HGP創英角ｺﾞｼｯｸUB" panose="020B0900000000000000" pitchFamily="50" charset="-128"/>
                <a:ea typeface="HGP創英角ｺﾞｼｯｸUB" panose="020B0900000000000000" pitchFamily="50" charset="-128"/>
              </a:rPr>
              <a:t>ペルソナ分析</a:t>
            </a:r>
          </a:p>
        </p:txBody>
      </p:sp>
      <p:sp>
        <p:nvSpPr>
          <p:cNvPr id="3" name="コンテンツ プレースホルダー 2">
            <a:extLst>
              <a:ext uri="{FF2B5EF4-FFF2-40B4-BE49-F238E27FC236}">
                <a16:creationId xmlns:a16="http://schemas.microsoft.com/office/drawing/2014/main" id="{1C4F1B08-E981-6DCB-81FB-03BC4AE95D3F}"/>
              </a:ext>
            </a:extLst>
          </p:cNvPr>
          <p:cNvSpPr>
            <a:spLocks noGrp="1"/>
          </p:cNvSpPr>
          <p:nvPr>
            <p:ph idx="1"/>
          </p:nvPr>
        </p:nvSpPr>
        <p:spPr>
          <a:xfrm>
            <a:off x="838200" y="2141537"/>
            <a:ext cx="10994571" cy="4351338"/>
          </a:xfrm>
        </p:spPr>
        <p:txBody>
          <a:bodyPr>
            <a:normAutofit/>
          </a:bodyPr>
          <a:lstStyle/>
          <a:p>
            <a:pPr marL="0" indent="0">
              <a:buNone/>
            </a:pPr>
            <a:r>
              <a:rPr lang="ja-JP" altLang="en-US" sz="3200" b="1" dirty="0">
                <a:latin typeface="+mn-ea"/>
              </a:rPr>
              <a:t>鈴木誠</a:t>
            </a:r>
            <a:r>
              <a:rPr lang="en-US" altLang="ja-JP" sz="3200" b="1" dirty="0">
                <a:latin typeface="+mn-ea"/>
              </a:rPr>
              <a:t>(35</a:t>
            </a:r>
            <a:r>
              <a:rPr lang="ja-JP" altLang="en-US" sz="3200" b="1" dirty="0">
                <a:latin typeface="+mn-ea"/>
              </a:rPr>
              <a:t>歳</a:t>
            </a:r>
            <a:r>
              <a:rPr lang="en-US" altLang="ja-JP" sz="3200" b="1" dirty="0">
                <a:latin typeface="+mn-ea"/>
              </a:rPr>
              <a:t>)</a:t>
            </a:r>
          </a:p>
          <a:p>
            <a:pPr marL="0" indent="0">
              <a:buNone/>
            </a:pPr>
            <a:r>
              <a:rPr lang="ja-JP" altLang="en-US" sz="3200" b="1" dirty="0">
                <a:latin typeface="+mn-ea"/>
              </a:rPr>
              <a:t>ゴルフショップの店長</a:t>
            </a:r>
            <a:endParaRPr lang="en-US" altLang="ja-JP" sz="3200" b="1" dirty="0">
              <a:latin typeface="+mn-ea"/>
            </a:endParaRPr>
          </a:p>
          <a:p>
            <a:pPr marL="0" indent="0">
              <a:buNone/>
            </a:pPr>
            <a:r>
              <a:rPr lang="ja-JP" altLang="en-US" sz="3200" b="1" dirty="0">
                <a:latin typeface="+mn-ea"/>
              </a:rPr>
              <a:t>日々新規の客にゴルフクラブの質問をされるが、在庫が多すぎて最適なものを絞り込めない。</a:t>
            </a:r>
            <a:endParaRPr lang="en-US" altLang="ja-JP" sz="3200" b="1" dirty="0">
              <a:latin typeface="+mn-ea"/>
            </a:endParaRPr>
          </a:p>
          <a:p>
            <a:pPr marL="0" indent="0">
              <a:buNone/>
            </a:pPr>
            <a:r>
              <a:rPr lang="ja-JP" altLang="en-US" sz="3200" b="1" dirty="0">
                <a:latin typeface="+mn-ea"/>
              </a:rPr>
              <a:t>在庫と性能を合わせておすすめを決めたいが自分だけで即座に決めるのが難しいため、一括で管理できるシステムが欲しい。</a:t>
            </a:r>
          </a:p>
          <a:p>
            <a:endParaRPr kumimoji="1" lang="ja-JP" altLang="en-US" sz="3600" b="1" dirty="0"/>
          </a:p>
        </p:txBody>
      </p:sp>
      <p:pic>
        <p:nvPicPr>
          <p:cNvPr id="4" name="図 3" descr="スーツを着た男性&#10;&#10;AI 生成コンテンツは誤りを含む可能性があります。">
            <a:extLst>
              <a:ext uri="{FF2B5EF4-FFF2-40B4-BE49-F238E27FC236}">
                <a16:creationId xmlns:a16="http://schemas.microsoft.com/office/drawing/2014/main" id="{64DC0A76-042E-E955-02F0-003D130624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7864" y="217785"/>
            <a:ext cx="2218944" cy="2945806"/>
          </a:xfrm>
          <a:prstGeom prst="rect">
            <a:avLst/>
          </a:prstGeom>
        </p:spPr>
      </p:pic>
    </p:spTree>
    <p:extLst>
      <p:ext uri="{BB962C8B-B14F-4D97-AF65-F5344CB8AC3E}">
        <p14:creationId xmlns:p14="http://schemas.microsoft.com/office/powerpoint/2010/main" val="2884448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90B93-E656-81D1-7874-8B6767E752F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2ED626-38D6-B4E3-8373-B4B5D83DA772}"/>
              </a:ext>
            </a:extLst>
          </p:cNvPr>
          <p:cNvSpPr>
            <a:spLocks noGrp="1"/>
          </p:cNvSpPr>
          <p:nvPr>
            <p:ph type="title"/>
          </p:nvPr>
        </p:nvSpPr>
        <p:spPr/>
        <p:txBody>
          <a:bodyPr>
            <a:normAutofit/>
          </a:bodyPr>
          <a:lstStyle/>
          <a:p>
            <a:r>
              <a:rPr lang="ja-JP" altLang="en-US" sz="5400" dirty="0">
                <a:latin typeface="HGP創英角ｺﾞｼｯｸUB" panose="020B0900000000000000" pitchFamily="50" charset="-128"/>
                <a:ea typeface="HGP創英角ｺﾞｼｯｸUB" panose="020B0900000000000000" pitchFamily="50" charset="-128"/>
              </a:rPr>
              <a:t>ストーリーボード</a:t>
            </a:r>
            <a:endParaRPr kumimoji="1" lang="ja-JP" altLang="en-US" sz="5400" dirty="0">
              <a:latin typeface="HGP創英角ｺﾞｼｯｸUB" panose="020B0900000000000000" pitchFamily="50" charset="-128"/>
              <a:ea typeface="HGP創英角ｺﾞｼｯｸUB" panose="020B0900000000000000" pitchFamily="50" charset="-128"/>
            </a:endParaRPr>
          </a:p>
        </p:txBody>
      </p:sp>
      <p:graphicFrame>
        <p:nvGraphicFramePr>
          <p:cNvPr id="7" name="コンテンツ プレースホルダー 6">
            <a:extLst>
              <a:ext uri="{FF2B5EF4-FFF2-40B4-BE49-F238E27FC236}">
                <a16:creationId xmlns:a16="http://schemas.microsoft.com/office/drawing/2014/main" id="{270E9199-8442-38F0-0D97-4C3F9B89619B}"/>
              </a:ext>
            </a:extLst>
          </p:cNvPr>
          <p:cNvGraphicFramePr>
            <a:graphicFrameLocks noGrp="1"/>
          </p:cNvGraphicFramePr>
          <p:nvPr>
            <p:ph idx="1"/>
            <p:extLst>
              <p:ext uri="{D42A27DB-BD31-4B8C-83A1-F6EECF244321}">
                <p14:modId xmlns:p14="http://schemas.microsoft.com/office/powerpoint/2010/main" val="3953132121"/>
              </p:ext>
            </p:extLst>
          </p:nvPr>
        </p:nvGraphicFramePr>
        <p:xfrm>
          <a:off x="497305" y="1379621"/>
          <a:ext cx="11502190" cy="5449252"/>
        </p:xfrm>
        <a:graphic>
          <a:graphicData uri="http://schemas.openxmlformats.org/drawingml/2006/table">
            <a:tbl>
              <a:tblPr firstRow="1" bandRow="1">
                <a:tableStyleId>{5C22544A-7EE6-4342-B048-85BDC9FD1C3A}</a:tableStyleId>
              </a:tblPr>
              <a:tblGrid>
                <a:gridCol w="2300438">
                  <a:extLst>
                    <a:ext uri="{9D8B030D-6E8A-4147-A177-3AD203B41FA5}">
                      <a16:colId xmlns:a16="http://schemas.microsoft.com/office/drawing/2014/main" val="1517875995"/>
                    </a:ext>
                  </a:extLst>
                </a:gridCol>
                <a:gridCol w="2300438">
                  <a:extLst>
                    <a:ext uri="{9D8B030D-6E8A-4147-A177-3AD203B41FA5}">
                      <a16:colId xmlns:a16="http://schemas.microsoft.com/office/drawing/2014/main" val="3661667337"/>
                    </a:ext>
                  </a:extLst>
                </a:gridCol>
                <a:gridCol w="2300438">
                  <a:extLst>
                    <a:ext uri="{9D8B030D-6E8A-4147-A177-3AD203B41FA5}">
                      <a16:colId xmlns:a16="http://schemas.microsoft.com/office/drawing/2014/main" val="3012682143"/>
                    </a:ext>
                  </a:extLst>
                </a:gridCol>
                <a:gridCol w="2300438">
                  <a:extLst>
                    <a:ext uri="{9D8B030D-6E8A-4147-A177-3AD203B41FA5}">
                      <a16:colId xmlns:a16="http://schemas.microsoft.com/office/drawing/2014/main" val="3477299615"/>
                    </a:ext>
                  </a:extLst>
                </a:gridCol>
                <a:gridCol w="2300438">
                  <a:extLst>
                    <a:ext uri="{9D8B030D-6E8A-4147-A177-3AD203B41FA5}">
                      <a16:colId xmlns:a16="http://schemas.microsoft.com/office/drawing/2014/main" val="522001940"/>
                    </a:ext>
                  </a:extLst>
                </a:gridCol>
              </a:tblGrid>
              <a:tr h="780747">
                <a:tc>
                  <a:txBody>
                    <a:bodyPr/>
                    <a:lstStyle/>
                    <a:p>
                      <a:pPr algn="ctr"/>
                      <a:r>
                        <a:rPr kumimoji="1" lang="ja-JP" altLang="en-US" dirty="0">
                          <a:solidFill>
                            <a:sysClr val="windowText" lastClr="000000"/>
                          </a:solidFill>
                        </a:rPr>
                        <a:t>フェーズ</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kumimoji="1" lang="ja-JP" altLang="en-US" dirty="0">
                          <a:solidFill>
                            <a:sysClr val="windowText" lastClr="000000"/>
                          </a:solidFill>
                        </a:rPr>
                        <a:t>①課題認識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kumimoji="1" lang="ja-JP" altLang="en-US" dirty="0">
                          <a:solidFill>
                            <a:sysClr val="windowText" lastClr="000000"/>
                          </a:solidFill>
                        </a:rPr>
                        <a:t>②アプリ導入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kumimoji="1" lang="ja-JP" altLang="en-US" dirty="0">
                          <a:solidFill>
                            <a:sysClr val="windowText" lastClr="000000"/>
                          </a:solidFill>
                        </a:rPr>
                        <a:t>③比較・選定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kumimoji="1" lang="ja-JP" altLang="en-US" dirty="0">
                          <a:solidFill>
                            <a:sysClr val="windowText" lastClr="000000"/>
                          </a:solidFill>
                        </a:rPr>
                        <a:t>④提案・売上管理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4153593426"/>
                  </a:ext>
                </a:extLst>
              </a:tr>
              <a:tr h="1529783">
                <a:tc>
                  <a:txBody>
                    <a:bodyPr/>
                    <a:lstStyle/>
                    <a:p>
                      <a:pPr algn="ctr"/>
                      <a:endParaRPr kumimoji="1" lang="en-US" altLang="ja-JP" b="1" dirty="0">
                        <a:solidFill>
                          <a:sysClr val="windowText" lastClr="000000"/>
                        </a:solidFill>
                      </a:endParaRPr>
                    </a:p>
                    <a:p>
                      <a:pPr algn="ctr"/>
                      <a:r>
                        <a:rPr kumimoji="1" lang="ja-JP" altLang="en-US" b="1" dirty="0">
                          <a:solidFill>
                            <a:sysClr val="windowText" lastClr="000000"/>
                          </a:solidFill>
                        </a:rPr>
                        <a:t>行動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kumimoji="1" lang="ja-JP" altLang="en-US" b="1" dirty="0">
                          <a:solidFill>
                            <a:sysClr val="windowText" lastClr="000000"/>
                          </a:solidFill>
                        </a:rPr>
                        <a:t>お客様の要望に合うクラブとその在庫が同時に管理しづらい</a:t>
                      </a:r>
                      <a:endParaRPr kumimoji="1" lang="en-US" altLang="ja-JP" b="1"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b="1" dirty="0">
                          <a:solidFill>
                            <a:sysClr val="windowText" lastClr="000000"/>
                          </a:solidFill>
                        </a:rPr>
                        <a:t>性能別に細かく検索。</a:t>
                      </a:r>
                      <a:endParaRPr kumimoji="1" lang="en-US" altLang="ja-JP" b="1" dirty="0">
                        <a:solidFill>
                          <a:sysClr val="windowText" lastClr="000000"/>
                        </a:solidFill>
                      </a:endParaRPr>
                    </a:p>
                    <a:p>
                      <a:r>
                        <a:rPr kumimoji="1" lang="ja-JP" altLang="en-US" b="1" dirty="0">
                          <a:solidFill>
                            <a:sysClr val="windowText" lastClr="000000"/>
                          </a:solidFill>
                        </a:rPr>
                        <a:t>同時に在庫数も見える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b="1" dirty="0">
                          <a:solidFill>
                            <a:sysClr val="windowText" lastClr="000000"/>
                          </a:solidFill>
                        </a:rPr>
                        <a:t>違いを知りたい</a:t>
                      </a:r>
                      <a:r>
                        <a:rPr kumimoji="1" lang="en-US" altLang="ja-JP" b="1" dirty="0">
                          <a:solidFill>
                            <a:sysClr val="windowText" lastClr="000000"/>
                          </a:solidFill>
                        </a:rPr>
                        <a:t>2</a:t>
                      </a:r>
                      <a:r>
                        <a:rPr kumimoji="1" lang="ja-JP" altLang="en-US" b="1" dirty="0">
                          <a:solidFill>
                            <a:sysClr val="windowText" lastClr="000000"/>
                          </a:solidFill>
                        </a:rPr>
                        <a:t>本を横並びに。</a:t>
                      </a:r>
                      <a:endParaRPr kumimoji="1" lang="en-US" altLang="ja-JP" b="1" dirty="0">
                        <a:solidFill>
                          <a:sysClr val="windowText" lastClr="000000"/>
                        </a:solidFill>
                      </a:endParaRPr>
                    </a:p>
                    <a:p>
                      <a:r>
                        <a:rPr kumimoji="1" lang="ja-JP" altLang="en-US" b="1" dirty="0">
                          <a:solidFill>
                            <a:sysClr val="windowText" lastClr="000000"/>
                          </a:solidFill>
                        </a:rPr>
                        <a:t>様々な面から比較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b="1" dirty="0">
                          <a:solidFill>
                            <a:sysClr val="windowText" lastClr="000000"/>
                          </a:solidFill>
                        </a:rPr>
                        <a:t>店舗で購入</a:t>
                      </a:r>
                      <a:endParaRPr kumimoji="1" lang="en-US" altLang="ja-JP" b="1" dirty="0">
                        <a:solidFill>
                          <a:sysClr val="windowText" lastClr="000000"/>
                        </a:solidFill>
                      </a:endParaRPr>
                    </a:p>
                    <a:p>
                      <a:r>
                        <a:rPr kumimoji="1" lang="ja-JP" altLang="en-US" b="1" dirty="0">
                          <a:solidFill>
                            <a:sysClr val="windowText" lastClr="000000"/>
                          </a:solidFill>
                        </a:rPr>
                        <a:t>「売上登録ボタン」で在庫処理完了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5221393"/>
                  </a:ext>
                </a:extLst>
              </a:tr>
              <a:tr h="1401362">
                <a:tc>
                  <a:txBody>
                    <a:bodyPr/>
                    <a:lstStyle/>
                    <a:p>
                      <a:pPr algn="ctr"/>
                      <a:endParaRPr kumimoji="1" lang="en-US" altLang="ja-JP" b="1" dirty="0">
                        <a:solidFill>
                          <a:sysClr val="windowText" lastClr="000000"/>
                        </a:solidFill>
                      </a:endParaRPr>
                    </a:p>
                    <a:p>
                      <a:pPr algn="ctr"/>
                      <a:r>
                        <a:rPr kumimoji="1" lang="ja-JP" altLang="en-US" b="1" dirty="0">
                          <a:solidFill>
                            <a:sysClr val="windowText" lastClr="000000"/>
                          </a:solidFill>
                        </a:rPr>
                        <a:t>感情</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kumimoji="1" lang="en-US" altLang="ja-JP" b="1" dirty="0">
                          <a:solidFill>
                            <a:sysClr val="windowText" lastClr="000000"/>
                          </a:solidFill>
                        </a:rPr>
                        <a:t>(</a:t>
                      </a:r>
                      <a:r>
                        <a:rPr kumimoji="1" lang="ja-JP" altLang="en-US" b="1" dirty="0">
                          <a:solidFill>
                            <a:sysClr val="windowText" lastClr="000000"/>
                          </a:solidFill>
                        </a:rPr>
                        <a:t>不安</a:t>
                      </a:r>
                      <a:r>
                        <a:rPr kumimoji="1" lang="en-US" altLang="ja-JP" b="1" dirty="0">
                          <a:solidFill>
                            <a:sysClr val="windowText" lastClr="000000"/>
                          </a:solidFill>
                        </a:rPr>
                        <a:t>)</a:t>
                      </a:r>
                    </a:p>
                    <a:p>
                      <a:r>
                        <a:rPr kumimoji="1" lang="ja-JP" altLang="en-US" b="1" dirty="0">
                          <a:solidFill>
                            <a:sysClr val="windowText" lastClr="000000"/>
                          </a:solidFill>
                        </a:rPr>
                        <a:t>「間違った提案を指定しまいそう</a:t>
                      </a:r>
                      <a:r>
                        <a:rPr kumimoji="1" lang="en-US" altLang="ja-JP" b="1" dirty="0">
                          <a:solidFill>
                            <a:sysClr val="windowText" lastClr="000000"/>
                          </a:solidFill>
                        </a:rPr>
                        <a:t>…</a:t>
                      </a:r>
                      <a:r>
                        <a:rPr kumimoji="1" lang="ja-JP" altLang="en-US" b="1" dirty="0">
                          <a:solidFill>
                            <a:sysClr val="windowText" lastClr="000000"/>
                          </a:solidFill>
                        </a:rPr>
                        <a:t>」</a:t>
                      </a:r>
                      <a:endParaRPr kumimoji="1" lang="en-US" altLang="ja-JP" b="1" dirty="0">
                        <a:solidFill>
                          <a:sysClr val="windowText" lastClr="000000"/>
                        </a:solidFill>
                      </a:endParaRPr>
                    </a:p>
                    <a:p>
                      <a:r>
                        <a:rPr kumimoji="1" lang="ja-JP" altLang="en-US" b="1" dirty="0">
                          <a:solidFill>
                            <a:sysClr val="windowText" lastClr="000000"/>
                          </a:solidFill>
                        </a:rPr>
                        <a:t>「提案したのに在庫がなかったら</a:t>
                      </a:r>
                      <a:r>
                        <a:rPr kumimoji="1" lang="en-US" altLang="ja-JP" b="1" dirty="0">
                          <a:solidFill>
                            <a:sysClr val="windowText" lastClr="000000"/>
                          </a:solidFill>
                        </a:rPr>
                        <a:t>…</a:t>
                      </a:r>
                      <a:r>
                        <a:rPr kumimoji="1" lang="ja-JP" altLang="en-US" b="1" dirty="0">
                          <a:solidFill>
                            <a:sysClr val="windowText" lastClr="000000"/>
                          </a:solidFill>
                        </a:rPr>
                        <a:t>」</a:t>
                      </a:r>
                      <a:endParaRPr kumimoji="1" lang="en-US" altLang="ja-JP" b="1" dirty="0">
                        <a:solidFill>
                          <a:sysClr val="windowText" lastClr="000000"/>
                        </a:solidFill>
                      </a:endParaRPr>
                    </a:p>
                    <a:p>
                      <a:endParaRPr kumimoji="1" lang="ja-JP" altLang="en-US" b="1"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b="1" dirty="0">
                          <a:solidFill>
                            <a:sysClr val="windowText" lastClr="000000"/>
                          </a:solidFill>
                        </a:rPr>
                        <a:t>(</a:t>
                      </a:r>
                      <a:r>
                        <a:rPr kumimoji="1" lang="ja-JP" altLang="en-US" b="1" dirty="0">
                          <a:solidFill>
                            <a:sysClr val="windowText" lastClr="000000"/>
                          </a:solidFill>
                        </a:rPr>
                        <a:t>期待</a:t>
                      </a:r>
                      <a:r>
                        <a:rPr kumimoji="1" lang="en-US" altLang="ja-JP" b="1" dirty="0">
                          <a:solidFill>
                            <a:sysClr val="windowText" lastClr="000000"/>
                          </a:solidFill>
                        </a:rPr>
                        <a:t>)</a:t>
                      </a:r>
                    </a:p>
                    <a:p>
                      <a:r>
                        <a:rPr kumimoji="1" lang="ja-JP" altLang="en-US" b="1" dirty="0">
                          <a:solidFill>
                            <a:sysClr val="windowText" lastClr="000000"/>
                          </a:solidFill>
                        </a:rPr>
                        <a:t>「これなら要望にも応えやすい</a:t>
                      </a:r>
                      <a:r>
                        <a:rPr kumimoji="1" lang="en-US" altLang="ja-JP" b="1" dirty="0">
                          <a:solidFill>
                            <a:sysClr val="windowText" lastClr="000000"/>
                          </a:solidFill>
                        </a:rPr>
                        <a:t>!</a:t>
                      </a:r>
                      <a:r>
                        <a:rPr kumimoji="1" lang="ja-JP" altLang="en-US" b="1" dirty="0">
                          <a:solidFill>
                            <a:sysClr val="windowText" lastClr="0000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b="1" dirty="0">
                          <a:solidFill>
                            <a:sysClr val="windowText" lastClr="000000"/>
                          </a:solidFill>
                        </a:rPr>
                        <a:t>(</a:t>
                      </a:r>
                      <a:r>
                        <a:rPr kumimoji="1" lang="ja-JP" altLang="en-US" b="1" dirty="0">
                          <a:solidFill>
                            <a:sysClr val="windowText" lastClr="000000"/>
                          </a:solidFill>
                        </a:rPr>
                        <a:t>納得</a:t>
                      </a:r>
                      <a:r>
                        <a:rPr kumimoji="1" lang="en-US" altLang="ja-JP" b="1" dirty="0">
                          <a:solidFill>
                            <a:sysClr val="windowText" lastClr="000000"/>
                          </a:solidFill>
                        </a:rPr>
                        <a:t>)</a:t>
                      </a:r>
                    </a:p>
                    <a:p>
                      <a:r>
                        <a:rPr kumimoji="1" lang="ja-JP" altLang="en-US" b="1" dirty="0">
                          <a:solidFill>
                            <a:sysClr val="windowText" lastClr="000000"/>
                          </a:solidFill>
                        </a:rPr>
                        <a:t>「この</a:t>
                      </a:r>
                      <a:r>
                        <a:rPr kumimoji="1" lang="en-US" altLang="ja-JP" b="1" dirty="0">
                          <a:solidFill>
                            <a:sysClr val="windowText" lastClr="000000"/>
                          </a:solidFill>
                        </a:rPr>
                        <a:t>2</a:t>
                      </a:r>
                      <a:r>
                        <a:rPr kumimoji="1" lang="ja-JP" altLang="en-US" b="1" dirty="0">
                          <a:solidFill>
                            <a:sysClr val="windowText" lastClr="000000"/>
                          </a:solidFill>
                        </a:rPr>
                        <a:t>本にはこんな違いがあるのか</a:t>
                      </a:r>
                      <a:r>
                        <a:rPr kumimoji="1" lang="en-US" altLang="ja-JP" b="1" dirty="0">
                          <a:solidFill>
                            <a:sysClr val="windowText" lastClr="000000"/>
                          </a:solidFill>
                        </a:rPr>
                        <a:t>!</a:t>
                      </a:r>
                      <a:r>
                        <a:rPr kumimoji="1" lang="ja-JP" altLang="en-US" b="1" dirty="0">
                          <a:solidFill>
                            <a:sysClr val="windowText" lastClr="0000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b="1" dirty="0">
                          <a:solidFill>
                            <a:sysClr val="windowText" lastClr="000000"/>
                          </a:solidFill>
                        </a:rPr>
                        <a:t>(</a:t>
                      </a:r>
                      <a:r>
                        <a:rPr kumimoji="1" lang="ja-JP" altLang="en-US" b="1" dirty="0">
                          <a:solidFill>
                            <a:sysClr val="windowText" lastClr="000000"/>
                          </a:solidFill>
                        </a:rPr>
                        <a:t>満足</a:t>
                      </a:r>
                      <a:r>
                        <a:rPr kumimoji="1" lang="en-US" altLang="ja-JP" b="1" dirty="0">
                          <a:solidFill>
                            <a:sysClr val="windowText" lastClr="000000"/>
                          </a:solidFill>
                        </a:rPr>
                        <a:t>)</a:t>
                      </a:r>
                    </a:p>
                    <a:p>
                      <a:r>
                        <a:rPr kumimoji="1" lang="ja-JP" altLang="en-US" b="1" dirty="0">
                          <a:solidFill>
                            <a:sysClr val="windowText" lastClr="000000"/>
                          </a:solidFill>
                        </a:rPr>
                        <a:t>「お客さまの要望にも応えられたし、在庫管理も楽</a:t>
                      </a:r>
                      <a:r>
                        <a:rPr kumimoji="1" lang="en-US" altLang="ja-JP" b="1" dirty="0">
                          <a:solidFill>
                            <a:sysClr val="windowText" lastClr="000000"/>
                          </a:solidFill>
                        </a:rPr>
                        <a:t>!</a:t>
                      </a:r>
                      <a:r>
                        <a:rPr kumimoji="1" lang="ja-JP" altLang="en-US" b="1" dirty="0">
                          <a:solidFill>
                            <a:sysClr val="windowText" lastClr="000000"/>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68720780"/>
                  </a:ext>
                </a:extLst>
              </a:tr>
              <a:tr h="1401362">
                <a:tc>
                  <a:txBody>
                    <a:bodyPr/>
                    <a:lstStyle/>
                    <a:p>
                      <a:pPr algn="ctr"/>
                      <a:endParaRPr kumimoji="1" lang="en-US" altLang="ja-JP" b="1" dirty="0">
                        <a:solidFill>
                          <a:sysClr val="windowText" lastClr="000000"/>
                        </a:solidFill>
                      </a:endParaRPr>
                    </a:p>
                    <a:p>
                      <a:pPr algn="ctr"/>
                      <a:r>
                        <a:rPr kumimoji="1" lang="ja-JP" altLang="en-US" b="1" dirty="0">
                          <a:solidFill>
                            <a:sysClr val="windowText" lastClr="000000"/>
                          </a:solidFill>
                        </a:rPr>
                        <a:t>解決策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kumimoji="1" lang="ja-JP" altLang="en-US" b="1" dirty="0">
                          <a:solidFill>
                            <a:sysClr val="windowText" lastClr="000000"/>
                          </a:solidFill>
                        </a:rPr>
                        <a:t>在庫と性能を同時に扱えるシステム</a:t>
                      </a:r>
                      <a:endParaRPr kumimoji="1" lang="en-US" altLang="ja-JP" b="1"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b="1" dirty="0">
                          <a:solidFill>
                            <a:sysClr val="windowText" lastClr="000000"/>
                          </a:solidFill>
                        </a:rPr>
                        <a:t>複数条件による詳細検索、同システムでの在庫・性能管理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b="1" dirty="0">
                          <a:solidFill>
                            <a:sysClr val="windowText" lastClr="000000"/>
                          </a:solidFill>
                        </a:rPr>
                        <a:t>表形式での性能の比較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b="1" dirty="0">
                          <a:solidFill>
                            <a:sysClr val="windowText" lastClr="000000"/>
                          </a:solidFill>
                        </a:rPr>
                        <a:t>ワンクリック在庫・売上連動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342805"/>
                  </a:ext>
                </a:extLst>
              </a:tr>
            </a:tbl>
          </a:graphicData>
        </a:graphic>
      </p:graphicFrame>
    </p:spTree>
    <p:extLst>
      <p:ext uri="{BB962C8B-B14F-4D97-AF65-F5344CB8AC3E}">
        <p14:creationId xmlns:p14="http://schemas.microsoft.com/office/powerpoint/2010/main" val="2224986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135B3-EB7B-6357-6D4D-B0F8C601B8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F7C18C9-E22D-FBF0-5BF8-FAB539004BF0}"/>
              </a:ext>
            </a:extLst>
          </p:cNvPr>
          <p:cNvSpPr>
            <a:spLocks noGrp="1"/>
          </p:cNvSpPr>
          <p:nvPr>
            <p:ph type="title"/>
          </p:nvPr>
        </p:nvSpPr>
        <p:spPr/>
        <p:txBody>
          <a:bodyPr>
            <a:normAutofit/>
          </a:bodyPr>
          <a:lstStyle/>
          <a:p>
            <a:r>
              <a:rPr lang="ja-JP" altLang="en-US" sz="5400" dirty="0">
                <a:latin typeface="HGP創英角ｺﾞｼｯｸUB" panose="020B0900000000000000" pitchFamily="50" charset="-128"/>
                <a:ea typeface="HGP創英角ｺﾞｼｯｸUB" panose="020B0900000000000000" pitchFamily="50" charset="-128"/>
              </a:rPr>
              <a:t>機能</a:t>
            </a:r>
            <a:endParaRPr kumimoji="1" lang="ja-JP" altLang="en-US" sz="5400" dirty="0">
              <a:latin typeface="HGP創英角ｺﾞｼｯｸUB" panose="020B0900000000000000" pitchFamily="50" charset="-128"/>
              <a:ea typeface="HGP創英角ｺﾞｼｯｸUB" panose="020B0900000000000000" pitchFamily="50" charset="-128"/>
            </a:endParaRPr>
          </a:p>
        </p:txBody>
      </p:sp>
      <p:sp>
        <p:nvSpPr>
          <p:cNvPr id="3" name="コンテンツ プレースホルダー 2">
            <a:extLst>
              <a:ext uri="{FF2B5EF4-FFF2-40B4-BE49-F238E27FC236}">
                <a16:creationId xmlns:a16="http://schemas.microsoft.com/office/drawing/2014/main" id="{893FFD5E-CF70-0AB0-63C6-2A1F83F499D3}"/>
              </a:ext>
            </a:extLst>
          </p:cNvPr>
          <p:cNvSpPr>
            <a:spLocks noGrp="1"/>
          </p:cNvSpPr>
          <p:nvPr>
            <p:ph idx="1"/>
          </p:nvPr>
        </p:nvSpPr>
        <p:spPr>
          <a:xfrm>
            <a:off x="838200" y="2141537"/>
            <a:ext cx="10994571" cy="4351338"/>
          </a:xfrm>
        </p:spPr>
        <p:txBody>
          <a:bodyPr>
            <a:normAutofit lnSpcReduction="10000"/>
          </a:bodyPr>
          <a:lstStyle/>
          <a:p>
            <a:pPr marL="0" indent="0">
              <a:buNone/>
            </a:pPr>
            <a:r>
              <a:rPr kumimoji="1" lang="ja-JP" altLang="en-US" sz="3600" b="1" dirty="0"/>
              <a:t>・詳細な検索</a:t>
            </a:r>
            <a:r>
              <a:rPr lang="en-US" altLang="ja-JP" sz="3600" b="1" dirty="0"/>
              <a:t>:</a:t>
            </a:r>
          </a:p>
          <a:p>
            <a:pPr marL="0" indent="0">
              <a:buNone/>
            </a:pPr>
            <a:r>
              <a:rPr lang="ja-JP" altLang="en-US" sz="3200" dirty="0"/>
              <a:t>メーカーやクラブ種別、タグ、重量、長さなどによる検索</a:t>
            </a:r>
            <a:endParaRPr lang="en-US" altLang="ja-JP" sz="3200" dirty="0"/>
          </a:p>
          <a:p>
            <a:pPr marL="0" indent="0">
              <a:buNone/>
            </a:pPr>
            <a:r>
              <a:rPr kumimoji="1" lang="ja-JP" altLang="en-US" sz="3600" b="1" dirty="0"/>
              <a:t>・比較機能</a:t>
            </a:r>
            <a:r>
              <a:rPr kumimoji="1" lang="en-US" altLang="ja-JP" sz="3600" b="1" dirty="0"/>
              <a:t>:</a:t>
            </a:r>
          </a:p>
          <a:p>
            <a:pPr marL="0" indent="0">
              <a:buNone/>
            </a:pPr>
            <a:r>
              <a:rPr lang="ja-JP" altLang="en-US" sz="3200" dirty="0"/>
              <a:t>複数ページを行き来しなくても横並びによる性能の比較</a:t>
            </a:r>
            <a:endParaRPr lang="en-US" altLang="ja-JP" sz="3200" dirty="0"/>
          </a:p>
          <a:p>
            <a:pPr marL="0" indent="0">
              <a:buNone/>
            </a:pPr>
            <a:r>
              <a:rPr lang="ja-JP" altLang="en-US" sz="3600" b="1" dirty="0"/>
              <a:t>・管理者機</a:t>
            </a:r>
            <a:r>
              <a:rPr lang="en-US" altLang="ja-JP" sz="3600" b="1" dirty="0"/>
              <a:t>:</a:t>
            </a:r>
          </a:p>
          <a:p>
            <a:pPr marL="0" indent="0">
              <a:buNone/>
            </a:pPr>
            <a:r>
              <a:rPr kumimoji="1" lang="ja-JP" altLang="en-US" sz="3200" dirty="0"/>
              <a:t>商品の編集、追加</a:t>
            </a:r>
            <a:endParaRPr lang="en-US" altLang="ja-JP" sz="3200" dirty="0"/>
          </a:p>
          <a:p>
            <a:pPr marL="0" indent="0">
              <a:buNone/>
            </a:pPr>
            <a:r>
              <a:rPr kumimoji="1" lang="ja-JP" altLang="en-US" sz="3200" dirty="0"/>
              <a:t>売上登録</a:t>
            </a:r>
            <a:endParaRPr kumimoji="1" lang="en-US" altLang="ja-JP" sz="3200" dirty="0"/>
          </a:p>
          <a:p>
            <a:pPr marL="0" indent="0">
              <a:buNone/>
            </a:pPr>
            <a:r>
              <a:rPr lang="ja-JP" altLang="en-US" sz="3200" dirty="0"/>
              <a:t>安全なデータ削除</a:t>
            </a:r>
            <a:endParaRPr kumimoji="1" lang="en-US" altLang="ja-JP" sz="3200" dirty="0"/>
          </a:p>
        </p:txBody>
      </p:sp>
    </p:spTree>
    <p:extLst>
      <p:ext uri="{BB962C8B-B14F-4D97-AF65-F5344CB8AC3E}">
        <p14:creationId xmlns:p14="http://schemas.microsoft.com/office/powerpoint/2010/main" val="1809033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E794A-1BB7-4FF5-865A-46EAF093158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E2CCFF-5345-929D-480C-3BD42D48128E}"/>
              </a:ext>
            </a:extLst>
          </p:cNvPr>
          <p:cNvSpPr>
            <a:spLocks noGrp="1"/>
          </p:cNvSpPr>
          <p:nvPr>
            <p:ph type="title"/>
          </p:nvPr>
        </p:nvSpPr>
        <p:spPr/>
        <p:txBody>
          <a:bodyPr>
            <a:normAutofit/>
          </a:bodyPr>
          <a:lstStyle/>
          <a:p>
            <a:r>
              <a:rPr kumimoji="1" lang="en-US" altLang="ja-JP" sz="5400" dirty="0">
                <a:latin typeface="HGP創英角ｺﾞｼｯｸUB" panose="020B0900000000000000" pitchFamily="50" charset="-128"/>
                <a:ea typeface="HGP創英角ｺﾞｼｯｸUB" panose="020B0900000000000000" pitchFamily="50" charset="-128"/>
              </a:rPr>
              <a:t>DB</a:t>
            </a:r>
            <a:r>
              <a:rPr kumimoji="1" lang="ja-JP" altLang="en-US" sz="5400" dirty="0">
                <a:latin typeface="HGP創英角ｺﾞｼｯｸUB" panose="020B0900000000000000" pitchFamily="50" charset="-128"/>
                <a:ea typeface="HGP創英角ｺﾞｼｯｸUB" panose="020B0900000000000000" pitchFamily="50" charset="-128"/>
              </a:rPr>
              <a:t>構成</a:t>
            </a:r>
            <a:r>
              <a:rPr kumimoji="1" lang="en-US" altLang="ja-JP" sz="5400" dirty="0">
                <a:latin typeface="HGP創英角ｺﾞｼｯｸUB" panose="020B0900000000000000" pitchFamily="50" charset="-128"/>
                <a:ea typeface="HGP創英角ｺﾞｼｯｸUB" panose="020B0900000000000000" pitchFamily="50" charset="-128"/>
              </a:rPr>
              <a:t>(1.makers)</a:t>
            </a:r>
            <a:endParaRPr kumimoji="1" lang="ja-JP" altLang="en-US" sz="5400" dirty="0">
              <a:latin typeface="HGP創英角ｺﾞｼｯｸUB" panose="020B0900000000000000" pitchFamily="50" charset="-128"/>
              <a:ea typeface="HGP創英角ｺﾞｼｯｸUB" panose="020B0900000000000000" pitchFamily="50" charset="-128"/>
            </a:endParaRPr>
          </a:p>
        </p:txBody>
      </p:sp>
      <p:graphicFrame>
        <p:nvGraphicFramePr>
          <p:cNvPr id="6" name="表 5">
            <a:extLst>
              <a:ext uri="{FF2B5EF4-FFF2-40B4-BE49-F238E27FC236}">
                <a16:creationId xmlns:a16="http://schemas.microsoft.com/office/drawing/2014/main" id="{6679CF3F-A3E7-C969-4E51-214472FC2DC7}"/>
              </a:ext>
            </a:extLst>
          </p:cNvPr>
          <p:cNvGraphicFramePr>
            <a:graphicFrameLocks noGrp="1"/>
          </p:cNvGraphicFramePr>
          <p:nvPr>
            <p:extLst>
              <p:ext uri="{D42A27DB-BD31-4B8C-83A1-F6EECF244321}">
                <p14:modId xmlns:p14="http://schemas.microsoft.com/office/powerpoint/2010/main" val="4103518349"/>
              </p:ext>
            </p:extLst>
          </p:nvPr>
        </p:nvGraphicFramePr>
        <p:xfrm>
          <a:off x="547436" y="1690688"/>
          <a:ext cx="11097128" cy="3810951"/>
        </p:xfrm>
        <a:graphic>
          <a:graphicData uri="http://schemas.openxmlformats.org/drawingml/2006/table">
            <a:tbl>
              <a:tblPr firstRow="1" bandRow="1">
                <a:tableStyleId>{5C22544A-7EE6-4342-B048-85BDC9FD1C3A}</a:tableStyleId>
              </a:tblPr>
              <a:tblGrid>
                <a:gridCol w="2774282">
                  <a:extLst>
                    <a:ext uri="{9D8B030D-6E8A-4147-A177-3AD203B41FA5}">
                      <a16:colId xmlns:a16="http://schemas.microsoft.com/office/drawing/2014/main" val="493026763"/>
                    </a:ext>
                  </a:extLst>
                </a:gridCol>
                <a:gridCol w="2774282">
                  <a:extLst>
                    <a:ext uri="{9D8B030D-6E8A-4147-A177-3AD203B41FA5}">
                      <a16:colId xmlns:a16="http://schemas.microsoft.com/office/drawing/2014/main" val="3670436079"/>
                    </a:ext>
                  </a:extLst>
                </a:gridCol>
                <a:gridCol w="2774282">
                  <a:extLst>
                    <a:ext uri="{9D8B030D-6E8A-4147-A177-3AD203B41FA5}">
                      <a16:colId xmlns:a16="http://schemas.microsoft.com/office/drawing/2014/main" val="692025591"/>
                    </a:ext>
                  </a:extLst>
                </a:gridCol>
                <a:gridCol w="2774282">
                  <a:extLst>
                    <a:ext uri="{9D8B030D-6E8A-4147-A177-3AD203B41FA5}">
                      <a16:colId xmlns:a16="http://schemas.microsoft.com/office/drawing/2014/main" val="2733965597"/>
                    </a:ext>
                  </a:extLst>
                </a:gridCol>
              </a:tblGrid>
              <a:tr h="760129">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列名</a:t>
                      </a:r>
                      <a:endParaRPr kumimoji="1" lang="en-US" altLang="ja-JP"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型</a:t>
                      </a:r>
                      <a:endParaRPr kumimoji="1" lang="en-US" altLang="ja-JP"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キー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説明</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85038527"/>
                  </a:ext>
                </a:extLst>
              </a:tr>
              <a:tr h="995997">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PK</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メーカーを</a:t>
                      </a:r>
                      <a:endParaRPr kumimoji="1" lang="en-US" altLang="ja-JP" sz="2400" b="1" dirty="0">
                        <a:solidFill>
                          <a:schemeClr val="tx1"/>
                        </a:solidFill>
                      </a:endParaRPr>
                    </a:p>
                    <a:p>
                      <a:pPr algn="ctr"/>
                      <a:r>
                        <a:rPr kumimoji="1" lang="ja-JP" altLang="en-US" sz="2400" b="1" dirty="0">
                          <a:solidFill>
                            <a:schemeClr val="tx1"/>
                          </a:solidFill>
                        </a:rPr>
                        <a:t>判別する</a:t>
                      </a: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7407985"/>
                  </a:ext>
                </a:extLst>
              </a:tr>
              <a:tr h="995997">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name</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TEXT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メーカーの表示名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2210371"/>
                  </a:ext>
                </a:extLst>
              </a:tr>
              <a:tr h="995997">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country</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TEXT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メーカーの国名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9345437"/>
                  </a:ext>
                </a:extLst>
              </a:tr>
            </a:tbl>
          </a:graphicData>
        </a:graphic>
      </p:graphicFrame>
    </p:spTree>
    <p:extLst>
      <p:ext uri="{BB962C8B-B14F-4D97-AF65-F5344CB8AC3E}">
        <p14:creationId xmlns:p14="http://schemas.microsoft.com/office/powerpoint/2010/main" val="3552842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DD977-BD28-C29B-3ACF-11CA7FD39ED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642808-BE1A-DDFC-EADC-6CFDC4F73E59}"/>
              </a:ext>
            </a:extLst>
          </p:cNvPr>
          <p:cNvSpPr>
            <a:spLocks noGrp="1"/>
          </p:cNvSpPr>
          <p:nvPr>
            <p:ph type="title"/>
          </p:nvPr>
        </p:nvSpPr>
        <p:spPr>
          <a:xfrm>
            <a:off x="0" y="-273050"/>
            <a:ext cx="10515600" cy="1325563"/>
          </a:xfrm>
        </p:spPr>
        <p:txBody>
          <a:bodyPr>
            <a:normAutofit/>
          </a:bodyPr>
          <a:lstStyle/>
          <a:p>
            <a:r>
              <a:rPr kumimoji="1" lang="en-US" altLang="ja-JP" sz="5400" dirty="0">
                <a:latin typeface="HGP創英角ｺﾞｼｯｸUB" panose="020B0900000000000000" pitchFamily="50" charset="-128"/>
                <a:ea typeface="HGP創英角ｺﾞｼｯｸUB" panose="020B0900000000000000" pitchFamily="50" charset="-128"/>
              </a:rPr>
              <a:t>DB</a:t>
            </a:r>
            <a:r>
              <a:rPr kumimoji="1" lang="ja-JP" altLang="en-US" sz="5400" dirty="0">
                <a:latin typeface="HGP創英角ｺﾞｼｯｸUB" panose="020B0900000000000000" pitchFamily="50" charset="-128"/>
                <a:ea typeface="HGP創英角ｺﾞｼｯｸUB" panose="020B0900000000000000" pitchFamily="50" charset="-128"/>
              </a:rPr>
              <a:t>構成</a:t>
            </a:r>
            <a:r>
              <a:rPr kumimoji="1" lang="en-US" altLang="ja-JP" sz="5400" dirty="0">
                <a:latin typeface="HGP創英角ｺﾞｼｯｸUB" panose="020B0900000000000000" pitchFamily="50" charset="-128"/>
                <a:ea typeface="HGP創英角ｺﾞｼｯｸUB" panose="020B0900000000000000" pitchFamily="50" charset="-128"/>
              </a:rPr>
              <a:t>(2.products)</a:t>
            </a:r>
            <a:endParaRPr kumimoji="1" lang="ja-JP" altLang="en-US" sz="5400" dirty="0">
              <a:latin typeface="HGP創英角ｺﾞｼｯｸUB" panose="020B0900000000000000" pitchFamily="50" charset="-128"/>
              <a:ea typeface="HGP創英角ｺﾞｼｯｸUB" panose="020B0900000000000000" pitchFamily="50" charset="-128"/>
            </a:endParaRPr>
          </a:p>
        </p:txBody>
      </p:sp>
      <p:graphicFrame>
        <p:nvGraphicFramePr>
          <p:cNvPr id="6" name="表 5">
            <a:extLst>
              <a:ext uri="{FF2B5EF4-FFF2-40B4-BE49-F238E27FC236}">
                <a16:creationId xmlns:a16="http://schemas.microsoft.com/office/drawing/2014/main" id="{9E22219F-9B79-DE57-7512-788050CED1F3}"/>
              </a:ext>
            </a:extLst>
          </p:cNvPr>
          <p:cNvGraphicFramePr>
            <a:graphicFrameLocks noGrp="1"/>
          </p:cNvGraphicFramePr>
          <p:nvPr>
            <p:extLst>
              <p:ext uri="{D42A27DB-BD31-4B8C-83A1-F6EECF244321}">
                <p14:modId xmlns:p14="http://schemas.microsoft.com/office/powerpoint/2010/main" val="1275606557"/>
              </p:ext>
            </p:extLst>
          </p:nvPr>
        </p:nvGraphicFramePr>
        <p:xfrm>
          <a:off x="547436" y="824413"/>
          <a:ext cx="11097128" cy="5888510"/>
        </p:xfrm>
        <a:graphic>
          <a:graphicData uri="http://schemas.openxmlformats.org/drawingml/2006/table">
            <a:tbl>
              <a:tblPr firstRow="1" bandRow="1">
                <a:tableStyleId>{5C22544A-7EE6-4342-B048-85BDC9FD1C3A}</a:tableStyleId>
              </a:tblPr>
              <a:tblGrid>
                <a:gridCol w="2774282">
                  <a:extLst>
                    <a:ext uri="{9D8B030D-6E8A-4147-A177-3AD203B41FA5}">
                      <a16:colId xmlns:a16="http://schemas.microsoft.com/office/drawing/2014/main" val="493026763"/>
                    </a:ext>
                  </a:extLst>
                </a:gridCol>
                <a:gridCol w="2774282">
                  <a:extLst>
                    <a:ext uri="{9D8B030D-6E8A-4147-A177-3AD203B41FA5}">
                      <a16:colId xmlns:a16="http://schemas.microsoft.com/office/drawing/2014/main" val="3670436079"/>
                    </a:ext>
                  </a:extLst>
                </a:gridCol>
                <a:gridCol w="2774282">
                  <a:extLst>
                    <a:ext uri="{9D8B030D-6E8A-4147-A177-3AD203B41FA5}">
                      <a16:colId xmlns:a16="http://schemas.microsoft.com/office/drawing/2014/main" val="692025591"/>
                    </a:ext>
                  </a:extLst>
                </a:gridCol>
                <a:gridCol w="2774282">
                  <a:extLst>
                    <a:ext uri="{9D8B030D-6E8A-4147-A177-3AD203B41FA5}">
                      <a16:colId xmlns:a16="http://schemas.microsoft.com/office/drawing/2014/main" val="2733965597"/>
                    </a:ext>
                  </a:extLst>
                </a:gridCol>
              </a:tblGrid>
              <a:tr h="783552">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列名</a:t>
                      </a:r>
                      <a:endParaRPr kumimoji="1" lang="en-US" altLang="ja-JP"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型</a:t>
                      </a:r>
                      <a:endParaRPr kumimoji="1" lang="en-US" altLang="ja-JP"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キー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説明</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85038527"/>
                  </a:ext>
                </a:extLst>
              </a:tr>
              <a:tr h="723650">
                <a:tc>
                  <a:txBody>
                    <a:bodyPr/>
                    <a:lstStyle/>
                    <a:p>
                      <a:pPr algn="ct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PK</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商品</a:t>
                      </a: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7407985"/>
                  </a:ext>
                </a:extLst>
              </a:tr>
              <a:tr h="723650">
                <a:tc>
                  <a:txBody>
                    <a:bodyPr/>
                    <a:lstStyle/>
                    <a:p>
                      <a:pPr algn="ctr"/>
                      <a:r>
                        <a:rPr kumimoji="1" lang="en-US" altLang="ja-JP" sz="2400" b="1" dirty="0" err="1">
                          <a:solidFill>
                            <a:schemeClr val="tx1"/>
                          </a:solidFill>
                        </a:rPr>
                        <a:t>maker_id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FK</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メーカー</a:t>
                      </a: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2210371"/>
                  </a:ext>
                </a:extLst>
              </a:tr>
              <a:tr h="723650">
                <a:tc>
                  <a:txBody>
                    <a:bodyPr/>
                    <a:lstStyle/>
                    <a:p>
                      <a:pPr algn="ctr"/>
                      <a:r>
                        <a:rPr kumimoji="1" lang="en-US" altLang="ja-JP" sz="2400" b="1" dirty="0">
                          <a:solidFill>
                            <a:schemeClr val="tx1"/>
                          </a:solidFill>
                        </a:rPr>
                        <a:t>name</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TEXT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商品名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9345437"/>
                  </a:ext>
                </a:extLst>
              </a:tr>
              <a:tr h="723650">
                <a:tc>
                  <a:txBody>
                    <a:bodyPr/>
                    <a:lstStyle/>
                    <a:p>
                      <a:pPr algn="ctr"/>
                      <a:r>
                        <a:rPr kumimoji="1" lang="en-US" altLang="ja-JP" sz="2400" b="1" dirty="0" err="1">
                          <a:solidFill>
                            <a:schemeClr val="tx1"/>
                          </a:solidFill>
                        </a:rPr>
                        <a:t>club_type</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TEXT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種類</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1199083"/>
                  </a:ext>
                </a:extLst>
              </a:tr>
              <a:tr h="723650">
                <a:tc>
                  <a:txBody>
                    <a:bodyPr/>
                    <a:lstStyle/>
                    <a:p>
                      <a:pPr algn="ctr"/>
                      <a:r>
                        <a:rPr kumimoji="1" lang="en-US" altLang="ja-JP" sz="2400" b="1" dirty="0">
                          <a:solidFill>
                            <a:schemeClr val="tx1"/>
                          </a:solidFill>
                        </a:rPr>
                        <a:t>tag</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TEXT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検索用タグ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6554072"/>
                  </a:ext>
                </a:extLst>
              </a:tr>
              <a:tr h="723650">
                <a:tc>
                  <a:txBody>
                    <a:bodyPr/>
                    <a:lstStyle/>
                    <a:p>
                      <a:pPr algn="ctr"/>
                      <a:r>
                        <a:rPr kumimoji="1" lang="en-US" altLang="ja-JP" sz="2400" b="1" dirty="0">
                          <a:solidFill>
                            <a:schemeClr val="tx1"/>
                          </a:solidFill>
                        </a:rPr>
                        <a:t>description</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TEXT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商品説明</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0283769"/>
                  </a:ext>
                </a:extLst>
              </a:tr>
              <a:tr h="723650">
                <a:tc>
                  <a:txBody>
                    <a:bodyPr/>
                    <a:lstStyle/>
                    <a:p>
                      <a:pPr algn="ctr"/>
                      <a:r>
                        <a:rPr kumimoji="1" lang="en-US" altLang="ja-JP" sz="2400" b="1" dirty="0" err="1">
                          <a:solidFill>
                            <a:schemeClr val="tx1"/>
                          </a:solidFill>
                        </a:rPr>
                        <a:t>image_file</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TEXT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商品画像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2267821"/>
                  </a:ext>
                </a:extLst>
              </a:tr>
            </a:tbl>
          </a:graphicData>
        </a:graphic>
      </p:graphicFrame>
    </p:spTree>
    <p:extLst>
      <p:ext uri="{BB962C8B-B14F-4D97-AF65-F5344CB8AC3E}">
        <p14:creationId xmlns:p14="http://schemas.microsoft.com/office/powerpoint/2010/main" val="3671211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E8A06-BA33-C05F-8E6F-C8B942ED40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B1EEE6-3F24-9607-EAE4-FA248427D51C}"/>
              </a:ext>
            </a:extLst>
          </p:cNvPr>
          <p:cNvSpPr>
            <a:spLocks noGrp="1"/>
          </p:cNvSpPr>
          <p:nvPr>
            <p:ph type="title"/>
          </p:nvPr>
        </p:nvSpPr>
        <p:spPr>
          <a:xfrm>
            <a:off x="0" y="-273050"/>
            <a:ext cx="10515600" cy="1325563"/>
          </a:xfrm>
        </p:spPr>
        <p:txBody>
          <a:bodyPr>
            <a:normAutofit/>
          </a:bodyPr>
          <a:lstStyle/>
          <a:p>
            <a:r>
              <a:rPr kumimoji="1" lang="en-US" altLang="ja-JP" sz="5400" dirty="0">
                <a:latin typeface="HGP創英角ｺﾞｼｯｸUB" panose="020B0900000000000000" pitchFamily="50" charset="-128"/>
                <a:ea typeface="HGP創英角ｺﾞｼｯｸUB" panose="020B0900000000000000" pitchFamily="50" charset="-128"/>
              </a:rPr>
              <a:t>DB</a:t>
            </a:r>
            <a:r>
              <a:rPr kumimoji="1" lang="ja-JP" altLang="en-US" sz="5400" dirty="0">
                <a:latin typeface="HGP創英角ｺﾞｼｯｸUB" panose="020B0900000000000000" pitchFamily="50" charset="-128"/>
                <a:ea typeface="HGP創英角ｺﾞｼｯｸUB" panose="020B0900000000000000" pitchFamily="50" charset="-128"/>
              </a:rPr>
              <a:t>構成</a:t>
            </a:r>
            <a:r>
              <a:rPr kumimoji="1" lang="en-US" altLang="ja-JP" sz="5400" dirty="0">
                <a:latin typeface="HGP創英角ｺﾞｼｯｸUB" panose="020B0900000000000000" pitchFamily="50" charset="-128"/>
                <a:ea typeface="HGP創英角ｺﾞｼｯｸUB" panose="020B0900000000000000" pitchFamily="50" charset="-128"/>
              </a:rPr>
              <a:t>(3.inventory)</a:t>
            </a:r>
            <a:endParaRPr kumimoji="1" lang="ja-JP" altLang="en-US" sz="5400" dirty="0">
              <a:latin typeface="HGP創英角ｺﾞｼｯｸUB" panose="020B0900000000000000" pitchFamily="50" charset="-128"/>
              <a:ea typeface="HGP創英角ｺﾞｼｯｸUB" panose="020B0900000000000000" pitchFamily="50" charset="-128"/>
            </a:endParaRPr>
          </a:p>
        </p:txBody>
      </p:sp>
      <p:graphicFrame>
        <p:nvGraphicFramePr>
          <p:cNvPr id="6" name="表 5">
            <a:extLst>
              <a:ext uri="{FF2B5EF4-FFF2-40B4-BE49-F238E27FC236}">
                <a16:creationId xmlns:a16="http://schemas.microsoft.com/office/drawing/2014/main" id="{B07AF3EC-5B6E-9413-C01B-70CDE202E7A9}"/>
              </a:ext>
            </a:extLst>
          </p:cNvPr>
          <p:cNvGraphicFramePr>
            <a:graphicFrameLocks noGrp="1"/>
          </p:cNvGraphicFramePr>
          <p:nvPr>
            <p:extLst>
              <p:ext uri="{D42A27DB-BD31-4B8C-83A1-F6EECF244321}">
                <p14:modId xmlns:p14="http://schemas.microsoft.com/office/powerpoint/2010/main" val="3070848541"/>
              </p:ext>
            </p:extLst>
          </p:nvPr>
        </p:nvGraphicFramePr>
        <p:xfrm>
          <a:off x="547436" y="824413"/>
          <a:ext cx="11097128" cy="5888510"/>
        </p:xfrm>
        <a:graphic>
          <a:graphicData uri="http://schemas.openxmlformats.org/drawingml/2006/table">
            <a:tbl>
              <a:tblPr firstRow="1" bandRow="1">
                <a:tableStyleId>{5C22544A-7EE6-4342-B048-85BDC9FD1C3A}</a:tableStyleId>
              </a:tblPr>
              <a:tblGrid>
                <a:gridCol w="2774282">
                  <a:extLst>
                    <a:ext uri="{9D8B030D-6E8A-4147-A177-3AD203B41FA5}">
                      <a16:colId xmlns:a16="http://schemas.microsoft.com/office/drawing/2014/main" val="493026763"/>
                    </a:ext>
                  </a:extLst>
                </a:gridCol>
                <a:gridCol w="2774282">
                  <a:extLst>
                    <a:ext uri="{9D8B030D-6E8A-4147-A177-3AD203B41FA5}">
                      <a16:colId xmlns:a16="http://schemas.microsoft.com/office/drawing/2014/main" val="3670436079"/>
                    </a:ext>
                  </a:extLst>
                </a:gridCol>
                <a:gridCol w="2774282">
                  <a:extLst>
                    <a:ext uri="{9D8B030D-6E8A-4147-A177-3AD203B41FA5}">
                      <a16:colId xmlns:a16="http://schemas.microsoft.com/office/drawing/2014/main" val="692025591"/>
                    </a:ext>
                  </a:extLst>
                </a:gridCol>
                <a:gridCol w="2774282">
                  <a:extLst>
                    <a:ext uri="{9D8B030D-6E8A-4147-A177-3AD203B41FA5}">
                      <a16:colId xmlns:a16="http://schemas.microsoft.com/office/drawing/2014/main" val="2733965597"/>
                    </a:ext>
                  </a:extLst>
                </a:gridCol>
              </a:tblGrid>
              <a:tr h="783552">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列名</a:t>
                      </a:r>
                      <a:endParaRPr kumimoji="1" lang="en-US" altLang="ja-JP"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型</a:t>
                      </a:r>
                      <a:endParaRPr kumimoji="1" lang="en-US" altLang="ja-JP"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キー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説明</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85038527"/>
                  </a:ext>
                </a:extLst>
              </a:tr>
              <a:tr h="723650">
                <a:tc>
                  <a:txBody>
                    <a:bodyPr/>
                    <a:lstStyle/>
                    <a:p>
                      <a:pPr algn="ct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PK</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在庫</a:t>
                      </a: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7407985"/>
                  </a:ext>
                </a:extLst>
              </a:tr>
              <a:tr h="723650">
                <a:tc>
                  <a:txBody>
                    <a:bodyPr/>
                    <a:lstStyle/>
                    <a:p>
                      <a:pPr algn="ctr"/>
                      <a:r>
                        <a:rPr kumimoji="1" lang="en-US" altLang="ja-JP" sz="2400" b="1" dirty="0" err="1">
                          <a:solidFill>
                            <a:schemeClr val="tx1"/>
                          </a:solidFill>
                        </a:rPr>
                        <a:t>prduct_id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FK</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商品</a:t>
                      </a: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2210371"/>
                  </a:ext>
                </a:extLst>
              </a:tr>
              <a:tr h="723650">
                <a:tc>
                  <a:txBody>
                    <a:bodyPr/>
                    <a:lstStyle/>
                    <a:p>
                      <a:pPr algn="ctr"/>
                      <a:r>
                        <a:rPr kumimoji="1" lang="en-US" altLang="ja-JP" sz="2400" b="1" dirty="0">
                          <a:solidFill>
                            <a:schemeClr val="tx1"/>
                          </a:solidFill>
                        </a:rPr>
                        <a:t>flex</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TEXT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硬さ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9345437"/>
                  </a:ext>
                </a:extLst>
              </a:tr>
              <a:tr h="723650">
                <a:tc>
                  <a:txBody>
                    <a:bodyPr/>
                    <a:lstStyle/>
                    <a:p>
                      <a:pPr algn="ctr"/>
                      <a:r>
                        <a:rPr kumimoji="1" lang="en-US" altLang="ja-JP" sz="2400" b="1" dirty="0">
                          <a:solidFill>
                            <a:schemeClr val="tx1"/>
                          </a:solidFill>
                        </a:rPr>
                        <a:t>price</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価格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91199083"/>
                  </a:ext>
                </a:extLst>
              </a:tr>
              <a:tr h="723650">
                <a:tc>
                  <a:txBody>
                    <a:bodyPr/>
                    <a:lstStyle/>
                    <a:p>
                      <a:pPr algn="ctr"/>
                      <a:r>
                        <a:rPr kumimoji="1" lang="en-US" altLang="ja-JP" sz="2400" b="1" dirty="0">
                          <a:solidFill>
                            <a:schemeClr val="tx1"/>
                          </a:solidFill>
                        </a:rPr>
                        <a:t>weight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重量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66554072"/>
                  </a:ext>
                </a:extLst>
              </a:tr>
              <a:tr h="723650">
                <a:tc>
                  <a:txBody>
                    <a:bodyPr/>
                    <a:lstStyle/>
                    <a:p>
                      <a:pPr algn="ctr"/>
                      <a:r>
                        <a:rPr kumimoji="1" lang="en-US" altLang="ja-JP" sz="2400" b="1" dirty="0">
                          <a:solidFill>
                            <a:schemeClr val="tx1"/>
                          </a:solidFill>
                        </a:rPr>
                        <a:t>length</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REAL</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長さ</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0283769"/>
                  </a:ext>
                </a:extLst>
              </a:tr>
              <a:tr h="723650">
                <a:tc>
                  <a:txBody>
                    <a:bodyPr/>
                    <a:lstStyle/>
                    <a:p>
                      <a:pPr algn="ctr"/>
                      <a:r>
                        <a:rPr kumimoji="1" lang="en-US" altLang="ja-JP" sz="2400" b="1" dirty="0">
                          <a:solidFill>
                            <a:schemeClr val="tx1"/>
                          </a:solidFill>
                        </a:rPr>
                        <a:t>stock</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在庫数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2267821"/>
                  </a:ext>
                </a:extLst>
              </a:tr>
            </a:tbl>
          </a:graphicData>
        </a:graphic>
      </p:graphicFrame>
    </p:spTree>
    <p:extLst>
      <p:ext uri="{BB962C8B-B14F-4D97-AF65-F5344CB8AC3E}">
        <p14:creationId xmlns:p14="http://schemas.microsoft.com/office/powerpoint/2010/main" val="309954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901A9-B1ED-6BF5-3043-EC881FCA240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E64750-13C0-CF6D-09D6-D7418186ADA5}"/>
              </a:ext>
            </a:extLst>
          </p:cNvPr>
          <p:cNvSpPr>
            <a:spLocks noGrp="1"/>
          </p:cNvSpPr>
          <p:nvPr>
            <p:ph type="title"/>
          </p:nvPr>
        </p:nvSpPr>
        <p:spPr/>
        <p:txBody>
          <a:bodyPr>
            <a:normAutofit/>
          </a:bodyPr>
          <a:lstStyle/>
          <a:p>
            <a:r>
              <a:rPr kumimoji="1" lang="en-US" altLang="ja-JP" sz="5400" dirty="0">
                <a:latin typeface="HGP創英角ｺﾞｼｯｸUB" panose="020B0900000000000000" pitchFamily="50" charset="-128"/>
                <a:ea typeface="HGP創英角ｺﾞｼｯｸUB" panose="020B0900000000000000" pitchFamily="50" charset="-128"/>
              </a:rPr>
              <a:t>DB</a:t>
            </a:r>
            <a:r>
              <a:rPr kumimoji="1" lang="ja-JP" altLang="en-US" sz="5400" dirty="0">
                <a:latin typeface="HGP創英角ｺﾞｼｯｸUB" panose="020B0900000000000000" pitchFamily="50" charset="-128"/>
                <a:ea typeface="HGP創英角ｺﾞｼｯｸUB" panose="020B0900000000000000" pitchFamily="50" charset="-128"/>
              </a:rPr>
              <a:t>構成</a:t>
            </a:r>
            <a:r>
              <a:rPr kumimoji="1" lang="en-US" altLang="ja-JP" sz="5400" dirty="0">
                <a:latin typeface="HGP創英角ｺﾞｼｯｸUB" panose="020B0900000000000000" pitchFamily="50" charset="-128"/>
                <a:ea typeface="HGP創英角ｺﾞｼｯｸUB" panose="020B0900000000000000" pitchFamily="50" charset="-128"/>
              </a:rPr>
              <a:t>(4.sales)</a:t>
            </a:r>
            <a:endParaRPr kumimoji="1" lang="ja-JP" altLang="en-US" sz="5400" dirty="0">
              <a:latin typeface="HGP創英角ｺﾞｼｯｸUB" panose="020B0900000000000000" pitchFamily="50" charset="-128"/>
              <a:ea typeface="HGP創英角ｺﾞｼｯｸUB" panose="020B0900000000000000" pitchFamily="50" charset="-128"/>
            </a:endParaRPr>
          </a:p>
        </p:txBody>
      </p:sp>
      <p:graphicFrame>
        <p:nvGraphicFramePr>
          <p:cNvPr id="6" name="表 5">
            <a:extLst>
              <a:ext uri="{FF2B5EF4-FFF2-40B4-BE49-F238E27FC236}">
                <a16:creationId xmlns:a16="http://schemas.microsoft.com/office/drawing/2014/main" id="{DC8303FA-EB82-4A65-9982-3FAE4A6E3651}"/>
              </a:ext>
            </a:extLst>
          </p:cNvPr>
          <p:cNvGraphicFramePr>
            <a:graphicFrameLocks noGrp="1"/>
          </p:cNvGraphicFramePr>
          <p:nvPr>
            <p:extLst>
              <p:ext uri="{D42A27DB-BD31-4B8C-83A1-F6EECF244321}">
                <p14:modId xmlns:p14="http://schemas.microsoft.com/office/powerpoint/2010/main" val="351688312"/>
              </p:ext>
            </p:extLst>
          </p:nvPr>
        </p:nvGraphicFramePr>
        <p:xfrm>
          <a:off x="547436" y="1690688"/>
          <a:ext cx="11097128" cy="4806948"/>
        </p:xfrm>
        <a:graphic>
          <a:graphicData uri="http://schemas.openxmlformats.org/drawingml/2006/table">
            <a:tbl>
              <a:tblPr firstRow="1" bandRow="1">
                <a:tableStyleId>{5C22544A-7EE6-4342-B048-85BDC9FD1C3A}</a:tableStyleId>
              </a:tblPr>
              <a:tblGrid>
                <a:gridCol w="2774282">
                  <a:extLst>
                    <a:ext uri="{9D8B030D-6E8A-4147-A177-3AD203B41FA5}">
                      <a16:colId xmlns:a16="http://schemas.microsoft.com/office/drawing/2014/main" val="493026763"/>
                    </a:ext>
                  </a:extLst>
                </a:gridCol>
                <a:gridCol w="2774282">
                  <a:extLst>
                    <a:ext uri="{9D8B030D-6E8A-4147-A177-3AD203B41FA5}">
                      <a16:colId xmlns:a16="http://schemas.microsoft.com/office/drawing/2014/main" val="3670436079"/>
                    </a:ext>
                  </a:extLst>
                </a:gridCol>
                <a:gridCol w="2774282">
                  <a:extLst>
                    <a:ext uri="{9D8B030D-6E8A-4147-A177-3AD203B41FA5}">
                      <a16:colId xmlns:a16="http://schemas.microsoft.com/office/drawing/2014/main" val="692025591"/>
                    </a:ext>
                  </a:extLst>
                </a:gridCol>
                <a:gridCol w="2774282">
                  <a:extLst>
                    <a:ext uri="{9D8B030D-6E8A-4147-A177-3AD203B41FA5}">
                      <a16:colId xmlns:a16="http://schemas.microsoft.com/office/drawing/2014/main" val="2733965597"/>
                    </a:ext>
                  </a:extLst>
                </a:gridCol>
              </a:tblGrid>
              <a:tr h="760129">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列名</a:t>
                      </a:r>
                      <a:endParaRPr kumimoji="1" lang="en-US" altLang="ja-JP"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型</a:t>
                      </a:r>
                      <a:endParaRPr kumimoji="1" lang="en-US" altLang="ja-JP"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キー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説明</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485038527"/>
                  </a:ext>
                </a:extLst>
              </a:tr>
              <a:tr h="995997">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PK</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ja-JP" altLang="en-US" sz="2400" b="1" dirty="0">
                          <a:solidFill>
                            <a:schemeClr val="tx1"/>
                          </a:solidFill>
                        </a:rPr>
                        <a:t>売り上げ</a:t>
                      </a: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7407985"/>
                  </a:ext>
                </a:extLst>
              </a:tr>
              <a:tr h="995997">
                <a:tc>
                  <a:txBody>
                    <a:bodyPr/>
                    <a:lstStyle/>
                    <a:p>
                      <a:pPr algn="ctr"/>
                      <a:endParaRPr kumimoji="1" lang="en-US" altLang="ja-JP" sz="2400" b="1" dirty="0">
                        <a:solidFill>
                          <a:schemeClr val="tx1"/>
                        </a:solidFill>
                      </a:endParaRPr>
                    </a:p>
                    <a:p>
                      <a:pPr algn="ctr"/>
                      <a:r>
                        <a:rPr kumimoji="1" lang="en-US" altLang="ja-JP" sz="2400" b="1" dirty="0" err="1">
                          <a:solidFill>
                            <a:schemeClr val="tx1"/>
                          </a:solidFill>
                        </a:rPr>
                        <a:t>inventory_id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FK</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在庫</a:t>
                      </a:r>
                      <a:r>
                        <a:rPr kumimoji="1" lang="en-US" altLang="ja-JP" sz="2400" b="1" dirty="0">
                          <a:solidFill>
                            <a:schemeClr val="tx1"/>
                          </a:solidFill>
                        </a:rPr>
                        <a:t>id</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2210371"/>
                  </a:ext>
                </a:extLst>
              </a:tr>
              <a:tr h="995997">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price_at_sale</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INT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販売額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9345437"/>
                  </a:ext>
                </a:extLst>
              </a:tr>
              <a:tr h="995997">
                <a:tc>
                  <a:txBody>
                    <a:bodyPr/>
                    <a:lstStyle/>
                    <a:p>
                      <a:pPr algn="ctr"/>
                      <a:endParaRPr kumimoji="1" lang="en-US" altLang="ja-JP" sz="2400" b="1" dirty="0">
                        <a:solidFill>
                          <a:schemeClr val="tx1"/>
                        </a:solidFill>
                      </a:endParaRPr>
                    </a:p>
                    <a:p>
                      <a:pPr algn="ctr"/>
                      <a:r>
                        <a:rPr kumimoji="1" lang="en-US" altLang="ja-JP" sz="2400" b="1" dirty="0" err="1">
                          <a:solidFill>
                            <a:schemeClr val="tx1"/>
                          </a:solidFill>
                        </a:rPr>
                        <a:t>sold_at</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en-US" altLang="ja-JP" sz="2400" b="1" dirty="0">
                          <a:solidFill>
                            <a:schemeClr val="tx1"/>
                          </a:solidFill>
                        </a:rPr>
                        <a:t>DATE</a:t>
                      </a: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ja-JP" altLang="en-US"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kumimoji="1" lang="en-US" altLang="ja-JP" sz="2400" b="1" dirty="0">
                        <a:solidFill>
                          <a:schemeClr val="tx1"/>
                        </a:solidFill>
                      </a:endParaRPr>
                    </a:p>
                    <a:p>
                      <a:pPr algn="ctr"/>
                      <a:r>
                        <a:rPr kumimoji="1" lang="ja-JP" altLang="en-US" sz="2400" b="1" dirty="0">
                          <a:solidFill>
                            <a:schemeClr val="tx1"/>
                          </a:solidFill>
                        </a:rPr>
                        <a:t>販売日時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36856554"/>
                  </a:ext>
                </a:extLst>
              </a:tr>
            </a:tbl>
          </a:graphicData>
        </a:graphic>
      </p:graphicFrame>
    </p:spTree>
    <p:extLst>
      <p:ext uri="{BB962C8B-B14F-4D97-AF65-F5344CB8AC3E}">
        <p14:creationId xmlns:p14="http://schemas.microsoft.com/office/powerpoint/2010/main" val="272016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C56EE-746B-EEAB-931E-412CF12B19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6B9CD6-0445-2652-08DD-609873C75678}"/>
              </a:ext>
            </a:extLst>
          </p:cNvPr>
          <p:cNvSpPr>
            <a:spLocks noGrp="1"/>
          </p:cNvSpPr>
          <p:nvPr>
            <p:ph type="title"/>
          </p:nvPr>
        </p:nvSpPr>
        <p:spPr/>
        <p:txBody>
          <a:bodyPr>
            <a:normAutofit/>
          </a:bodyPr>
          <a:lstStyle/>
          <a:p>
            <a:r>
              <a:rPr kumimoji="1" lang="ja-JP" altLang="en-US" sz="5400" dirty="0">
                <a:latin typeface="HGP創英角ｺﾞｼｯｸUB" panose="020B0900000000000000" pitchFamily="50" charset="-128"/>
                <a:ea typeface="HGP創英角ｺﾞｼｯｸUB" panose="020B0900000000000000" pitchFamily="50" charset="-128"/>
              </a:rPr>
              <a:t>アプリ構成・データフロー</a:t>
            </a:r>
          </a:p>
        </p:txBody>
      </p:sp>
      <p:pic>
        <p:nvPicPr>
          <p:cNvPr id="4" name="コンテンツ プレースホルダー 3" descr="ダイアグラム&#10;&#10;AI 生成コンテンツは誤りを含む可能性があります。">
            <a:extLst>
              <a:ext uri="{FF2B5EF4-FFF2-40B4-BE49-F238E27FC236}">
                <a16:creationId xmlns:a16="http://schemas.microsoft.com/office/drawing/2014/main" id="{EE49CB7E-3358-BF54-7CD9-A71311A8FE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6977" y="4800313"/>
            <a:ext cx="10317015" cy="2057687"/>
          </a:xfrm>
          <a:prstGeom prst="rect">
            <a:avLst/>
          </a:prstGeom>
        </p:spPr>
      </p:pic>
      <p:sp>
        <p:nvSpPr>
          <p:cNvPr id="5" name="コンテンツ プレースホルダー 2">
            <a:extLst>
              <a:ext uri="{FF2B5EF4-FFF2-40B4-BE49-F238E27FC236}">
                <a16:creationId xmlns:a16="http://schemas.microsoft.com/office/drawing/2014/main" id="{6374F378-6FFD-DC1F-34FD-589783BD4F1F}"/>
              </a:ext>
            </a:extLst>
          </p:cNvPr>
          <p:cNvSpPr txBox="1">
            <a:spLocks/>
          </p:cNvSpPr>
          <p:nvPr/>
        </p:nvSpPr>
        <p:spPr>
          <a:xfrm>
            <a:off x="838200" y="1690688"/>
            <a:ext cx="1099457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3600" b="1" dirty="0"/>
              <a:t>・</a:t>
            </a:r>
            <a:r>
              <a:rPr lang="ja-JP" altLang="en-US" sz="3800" b="1" u="sng" dirty="0">
                <a:solidFill>
                  <a:schemeClr val="accent1">
                    <a:lumMod val="75000"/>
                  </a:schemeClr>
                </a:solidFill>
              </a:rPr>
              <a:t>動的検索</a:t>
            </a:r>
            <a:r>
              <a:rPr lang="en-US" altLang="ja-JP" sz="3600" b="1" dirty="0"/>
              <a:t>:</a:t>
            </a:r>
          </a:p>
          <a:p>
            <a:pPr marL="0" indent="0">
              <a:buFont typeface="Arial" panose="020B0604020202020204" pitchFamily="34" charset="0"/>
              <a:buNone/>
            </a:pPr>
            <a:r>
              <a:rPr lang="ja-JP" altLang="en-US" sz="3600" b="1" dirty="0"/>
              <a:t>ユーザーの入力値に応じて</a:t>
            </a:r>
            <a:r>
              <a:rPr lang="en-US" altLang="ja-JP" sz="3600" b="1" dirty="0"/>
              <a:t>Python</a:t>
            </a:r>
            <a:r>
              <a:rPr lang="ja-JP" altLang="en-US" sz="3600" b="1" dirty="0"/>
              <a:t>側で</a:t>
            </a:r>
            <a:r>
              <a:rPr lang="en-US" altLang="ja-JP" sz="3600" b="1" dirty="0"/>
              <a:t>SQL</a:t>
            </a:r>
            <a:r>
              <a:rPr lang="ja-JP" altLang="en-US" sz="3600" b="1" dirty="0"/>
              <a:t>の</a:t>
            </a:r>
            <a:r>
              <a:rPr lang="en-US" altLang="ja-JP" sz="3600" b="1" dirty="0"/>
              <a:t>WHERE</a:t>
            </a:r>
            <a:r>
              <a:rPr lang="ja-JP" altLang="en-US" sz="3600" b="1" dirty="0"/>
              <a:t>句を動的に構築</a:t>
            </a:r>
            <a:endParaRPr lang="en-US" altLang="ja-JP" sz="3600" b="1" dirty="0"/>
          </a:p>
          <a:p>
            <a:pPr marL="0" indent="0">
              <a:buFont typeface="Arial" panose="020B0604020202020204" pitchFamily="34" charset="0"/>
              <a:buNone/>
            </a:pPr>
            <a:r>
              <a:rPr lang="ja-JP" altLang="en-US" sz="3600" b="1" dirty="0"/>
              <a:t>・</a:t>
            </a:r>
            <a:r>
              <a:rPr lang="ja-JP" altLang="en-US" sz="3800" b="1" u="sng" dirty="0">
                <a:solidFill>
                  <a:schemeClr val="accent1">
                    <a:lumMod val="75000"/>
                  </a:schemeClr>
                </a:solidFill>
              </a:rPr>
              <a:t>一貫性維持</a:t>
            </a:r>
            <a:r>
              <a:rPr lang="en-US" altLang="ja-JP" sz="3600" b="1" dirty="0"/>
              <a:t>:</a:t>
            </a:r>
          </a:p>
          <a:p>
            <a:pPr marL="0" indent="0">
              <a:buFont typeface="Arial" panose="020B0604020202020204" pitchFamily="34" charset="0"/>
              <a:buNone/>
            </a:pPr>
            <a:r>
              <a:rPr lang="ja-JP" altLang="en-US" sz="3600" b="1" dirty="0"/>
              <a:t>データの矛盾が起きない順序で売上、在庫処理を実行</a:t>
            </a:r>
            <a:endParaRPr lang="en-US" altLang="ja-JP" sz="3600" b="1" dirty="0"/>
          </a:p>
        </p:txBody>
      </p:sp>
    </p:spTree>
    <p:extLst>
      <p:ext uri="{BB962C8B-B14F-4D97-AF65-F5344CB8AC3E}">
        <p14:creationId xmlns:p14="http://schemas.microsoft.com/office/powerpoint/2010/main" val="3654974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1B623-926B-B27C-5B16-4502E75BA6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2B4EFC-63B7-B8B0-D4AF-BFE6AB71351B}"/>
              </a:ext>
            </a:extLst>
          </p:cNvPr>
          <p:cNvSpPr>
            <a:spLocks noGrp="1"/>
          </p:cNvSpPr>
          <p:nvPr>
            <p:ph type="title"/>
          </p:nvPr>
        </p:nvSpPr>
        <p:spPr/>
        <p:txBody>
          <a:bodyPr>
            <a:normAutofit fontScale="90000"/>
          </a:bodyPr>
          <a:lstStyle/>
          <a:p>
            <a:r>
              <a:rPr lang="ja-JP" altLang="en-US" sz="5400" b="1" dirty="0">
                <a:latin typeface="+mn-ea"/>
                <a:ea typeface="+mn-ea"/>
              </a:rPr>
              <a:t>技術的ハイライト </a:t>
            </a:r>
            <a:br>
              <a:rPr lang="en-US" altLang="ja-JP" sz="5400" b="1" dirty="0">
                <a:latin typeface="+mn-ea"/>
                <a:ea typeface="+mn-ea"/>
              </a:rPr>
            </a:br>
            <a:r>
              <a:rPr lang="ja-JP" altLang="en-US" sz="5400" b="1" dirty="0">
                <a:latin typeface="+mn-ea"/>
                <a:ea typeface="+mn-ea"/>
              </a:rPr>
              <a:t>② 安全な削除ロジック</a:t>
            </a:r>
            <a:endParaRPr kumimoji="1" lang="ja-JP" altLang="en-US" sz="5400" b="1" dirty="0">
              <a:latin typeface="+mn-ea"/>
              <a:ea typeface="+mn-ea"/>
            </a:endParaRPr>
          </a:p>
        </p:txBody>
      </p:sp>
      <p:sp>
        <p:nvSpPr>
          <p:cNvPr id="5" name="コンテンツ プレースホルダー 2">
            <a:extLst>
              <a:ext uri="{FF2B5EF4-FFF2-40B4-BE49-F238E27FC236}">
                <a16:creationId xmlns:a16="http://schemas.microsoft.com/office/drawing/2014/main" id="{68A2C60D-37FB-DDD7-80C8-F101711E7664}"/>
              </a:ext>
            </a:extLst>
          </p:cNvPr>
          <p:cNvSpPr txBox="1">
            <a:spLocks/>
          </p:cNvSpPr>
          <p:nvPr/>
        </p:nvSpPr>
        <p:spPr>
          <a:xfrm>
            <a:off x="838200" y="1690688"/>
            <a:ext cx="10994571" cy="503095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b="1" dirty="0"/>
              <a:t>課題</a:t>
            </a:r>
            <a:r>
              <a:rPr lang="en-US" altLang="ja-JP" b="1" dirty="0"/>
              <a:t>:</a:t>
            </a:r>
          </a:p>
          <a:p>
            <a:pPr marL="0" indent="0">
              <a:buFont typeface="Arial" panose="020B0604020202020204" pitchFamily="34" charset="0"/>
              <a:buNone/>
            </a:pPr>
            <a:r>
              <a:rPr lang="en-US" altLang="ja-JP" b="1" dirty="0"/>
              <a:t>RDB</a:t>
            </a:r>
            <a:r>
              <a:rPr lang="ja-JP" altLang="en-US" b="1" dirty="0"/>
              <a:t>では売上履歴のある商品を強引に削除すると</a:t>
            </a:r>
            <a:endParaRPr lang="en-US" altLang="ja-JP" b="1" dirty="0"/>
          </a:p>
          <a:p>
            <a:pPr marL="0" indent="0">
              <a:buFont typeface="Arial" panose="020B0604020202020204" pitchFamily="34" charset="0"/>
              <a:buNone/>
            </a:pPr>
            <a:r>
              <a:rPr lang="ja-JP" altLang="en-US" b="1" dirty="0"/>
              <a:t>システムエラーが発生する</a:t>
            </a:r>
            <a:r>
              <a:rPr lang="en-US" altLang="ja-JP" b="1" dirty="0"/>
              <a:t>(</a:t>
            </a:r>
            <a:r>
              <a:rPr lang="ja-JP" altLang="en-US" b="1" dirty="0"/>
              <a:t>整合性規約違反</a:t>
            </a:r>
            <a:r>
              <a:rPr lang="en-US" altLang="ja-JP" b="1" dirty="0"/>
              <a:t>)</a:t>
            </a:r>
          </a:p>
          <a:p>
            <a:pPr marL="0" indent="0">
              <a:buFont typeface="Arial" panose="020B0604020202020204" pitchFamily="34" charset="0"/>
              <a:buNone/>
            </a:pPr>
            <a:r>
              <a:rPr lang="ja-JP" altLang="en-US" b="1" dirty="0"/>
              <a:t>解決策</a:t>
            </a:r>
            <a:r>
              <a:rPr lang="en-US" altLang="ja-JP" b="1" dirty="0"/>
              <a:t>:</a:t>
            </a:r>
          </a:p>
          <a:p>
            <a:pPr marL="0" indent="0">
              <a:buFont typeface="Arial" panose="020B0604020202020204" pitchFamily="34" charset="0"/>
              <a:buNone/>
            </a:pPr>
            <a:r>
              <a:rPr lang="ja-JP" altLang="en-US" b="1" dirty="0">
                <a:highlight>
                  <a:srgbClr val="FFFF00"/>
                </a:highlight>
              </a:rPr>
              <a:t>カスケード削除の実装</a:t>
            </a:r>
            <a:endParaRPr lang="en-US" altLang="ja-JP" b="1" dirty="0">
              <a:highlight>
                <a:srgbClr val="FFFF00"/>
              </a:highlight>
            </a:endParaRPr>
          </a:p>
          <a:p>
            <a:pPr marL="0" indent="0">
              <a:buFont typeface="Arial" panose="020B0604020202020204" pitchFamily="34" charset="0"/>
              <a:buNone/>
            </a:pPr>
            <a:r>
              <a:rPr lang="en-US" altLang="ja-JP" b="1" dirty="0"/>
              <a:t>app.py</a:t>
            </a:r>
            <a:r>
              <a:rPr lang="ja-JP" altLang="en-US" b="1" dirty="0"/>
              <a:t>内で以下の順序を厳守</a:t>
            </a:r>
            <a:endParaRPr lang="en-US" altLang="ja-JP" b="1" dirty="0"/>
          </a:p>
          <a:p>
            <a:pPr marL="0" indent="0">
              <a:buFont typeface="Arial" panose="020B0604020202020204" pitchFamily="34" charset="0"/>
              <a:buNone/>
            </a:pPr>
            <a:r>
              <a:rPr lang="ja-JP" altLang="en-US" b="1" dirty="0"/>
              <a:t>①</a:t>
            </a:r>
            <a:r>
              <a:rPr lang="en-US" altLang="ja-JP" b="1" dirty="0"/>
              <a:t>Sales:</a:t>
            </a:r>
            <a:r>
              <a:rPr lang="ja-JP" altLang="en-US" b="1" dirty="0"/>
              <a:t>参照されている履歴を削除</a:t>
            </a:r>
            <a:endParaRPr lang="en-US" altLang="ja-JP" b="1" dirty="0"/>
          </a:p>
          <a:p>
            <a:pPr marL="0" indent="0">
              <a:buFont typeface="Arial" panose="020B0604020202020204" pitchFamily="34" charset="0"/>
              <a:buNone/>
            </a:pPr>
            <a:r>
              <a:rPr lang="ja-JP" altLang="en-US" b="1" dirty="0"/>
              <a:t>②</a:t>
            </a:r>
            <a:r>
              <a:rPr lang="en-US" altLang="ja-JP" b="1" dirty="0"/>
              <a:t>inventory:</a:t>
            </a:r>
            <a:r>
              <a:rPr lang="ja-JP" altLang="en-US" b="1" dirty="0"/>
              <a:t>スペック情報を削除</a:t>
            </a:r>
            <a:endParaRPr lang="en-US" altLang="ja-JP" b="1" dirty="0"/>
          </a:p>
          <a:p>
            <a:pPr marL="0" indent="0">
              <a:buFont typeface="Arial" panose="020B0604020202020204" pitchFamily="34" charset="0"/>
              <a:buNone/>
            </a:pPr>
            <a:r>
              <a:rPr lang="ja-JP" altLang="en-US" b="1" dirty="0"/>
              <a:t>③</a:t>
            </a:r>
            <a:r>
              <a:rPr lang="en-US" altLang="ja-JP" b="1" dirty="0"/>
              <a:t>products:</a:t>
            </a:r>
            <a:r>
              <a:rPr lang="ja-JP" altLang="en-US" b="1" dirty="0"/>
              <a:t>本体情報を削除</a:t>
            </a:r>
            <a:endParaRPr lang="en-US" altLang="ja-JP" b="1" dirty="0"/>
          </a:p>
          <a:p>
            <a:pPr marL="0" indent="0">
              <a:buFont typeface="Arial" panose="020B0604020202020204" pitchFamily="34" charset="0"/>
              <a:buNone/>
            </a:pPr>
            <a:r>
              <a:rPr lang="ja-JP" altLang="en-US" b="1" dirty="0"/>
              <a:t>④</a:t>
            </a:r>
            <a:r>
              <a:rPr lang="en-US" altLang="ja-JP" b="1" dirty="0"/>
              <a:t>makers:</a:t>
            </a:r>
            <a:r>
              <a:rPr lang="ja-JP" altLang="en-US" b="1" dirty="0"/>
              <a:t>商品が</a:t>
            </a:r>
            <a:r>
              <a:rPr lang="en-US" altLang="ja-JP" b="1" dirty="0"/>
              <a:t>0</a:t>
            </a:r>
            <a:r>
              <a:rPr lang="ja-JP" altLang="en-US" b="1" dirty="0"/>
              <a:t>個になったメーカーを自動で削除</a:t>
            </a:r>
            <a:endParaRPr lang="en-US" altLang="ja-JP" b="1" dirty="0"/>
          </a:p>
          <a:p>
            <a:pPr marL="0" indent="0">
              <a:buFont typeface="Arial" panose="020B0604020202020204" pitchFamily="34" charset="0"/>
              <a:buNone/>
            </a:pPr>
            <a:endParaRPr lang="en-US" altLang="ja-JP" sz="3600" b="1" dirty="0"/>
          </a:p>
        </p:txBody>
      </p:sp>
    </p:spTree>
    <p:extLst>
      <p:ext uri="{BB962C8B-B14F-4D97-AF65-F5344CB8AC3E}">
        <p14:creationId xmlns:p14="http://schemas.microsoft.com/office/powerpoint/2010/main" val="1575768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E87EE5-B244-BA67-7CB3-549C665D1F9E}"/>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636B6F30-1512-CD49-88FF-7C4C161177AA}"/>
              </a:ext>
            </a:extLst>
          </p:cNvPr>
          <p:cNvSpPr>
            <a:spLocks noGrp="1"/>
          </p:cNvSpPr>
          <p:nvPr>
            <p:ph type="title"/>
          </p:nvPr>
        </p:nvSpPr>
        <p:spPr>
          <a:xfrm>
            <a:off x="707740" y="2103437"/>
            <a:ext cx="10515600" cy="1325563"/>
          </a:xfrm>
        </p:spPr>
        <p:txBody>
          <a:bodyPr>
            <a:normAutofit fontScale="90000"/>
          </a:bodyPr>
          <a:lstStyle/>
          <a:p>
            <a:r>
              <a:rPr kumimoji="1" lang="ja-JP" altLang="en-US" sz="5400" dirty="0">
                <a:latin typeface="HGP創英角ｺﾞｼｯｸUB" panose="020B0900000000000000" pitchFamily="50" charset="-128"/>
                <a:ea typeface="HGP創英角ｺﾞｼｯｸUB" panose="020B0900000000000000" pitchFamily="50" charset="-128"/>
              </a:rPr>
              <a:t>デモ動画</a:t>
            </a:r>
            <a:br>
              <a:rPr lang="en-US" altLang="ja-JP" sz="5400" dirty="0">
                <a:latin typeface="HGP創英角ｺﾞｼｯｸUB" panose="020B0900000000000000" pitchFamily="50" charset="-128"/>
                <a:ea typeface="HGP創英角ｺﾞｼｯｸUB" panose="020B0900000000000000" pitchFamily="50" charset="-128"/>
              </a:rPr>
            </a:br>
            <a:br>
              <a:rPr lang="en-US" altLang="ja-JP" sz="5400" dirty="0">
                <a:latin typeface="HGP創英角ｺﾞｼｯｸUB" panose="020B0900000000000000" pitchFamily="50" charset="-128"/>
                <a:ea typeface="HGP創英角ｺﾞｼｯｸUB" panose="020B0900000000000000" pitchFamily="50" charset="-128"/>
              </a:rPr>
            </a:br>
            <a:r>
              <a:rPr lang="en-US" altLang="ja-JP" sz="5400" dirty="0">
                <a:latin typeface="HGP創英角ｺﾞｼｯｸUB" panose="020B0900000000000000" pitchFamily="50" charset="-128"/>
                <a:ea typeface="HGP創英角ｺﾞｼｯｸUB" panose="020B0900000000000000" pitchFamily="50" charset="-128"/>
              </a:rPr>
              <a:t>https://drive.google.com/file/d/1lIyLLjzyl3g3tjvTrCQ12I6jonGxDhLX/view?usp=drive_link</a:t>
            </a:r>
            <a:endParaRPr kumimoji="1" lang="ja-JP" altLang="en-US" sz="5400" dirty="0">
              <a:latin typeface="HGP創英角ｺﾞｼｯｸUB" panose="020B0900000000000000" pitchFamily="50" charset="-128"/>
              <a:ea typeface="HGP創英角ｺﾞｼｯｸUB" panose="020B0900000000000000" pitchFamily="50" charset="-128"/>
            </a:endParaRPr>
          </a:p>
        </p:txBody>
      </p:sp>
    </p:spTree>
    <p:extLst>
      <p:ext uri="{BB962C8B-B14F-4D97-AF65-F5344CB8AC3E}">
        <p14:creationId xmlns:p14="http://schemas.microsoft.com/office/powerpoint/2010/main" val="2486458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F9DAD-6F9C-5C38-7776-355E352DA4C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2935D7-D399-083E-E1D9-CCB4B129912F}"/>
              </a:ext>
            </a:extLst>
          </p:cNvPr>
          <p:cNvSpPr>
            <a:spLocks noGrp="1"/>
          </p:cNvSpPr>
          <p:nvPr>
            <p:ph type="title"/>
          </p:nvPr>
        </p:nvSpPr>
        <p:spPr/>
        <p:txBody>
          <a:bodyPr>
            <a:normAutofit/>
          </a:bodyPr>
          <a:lstStyle/>
          <a:p>
            <a:r>
              <a:rPr kumimoji="1" lang="ja-JP" altLang="en-US" sz="5400" dirty="0">
                <a:latin typeface="HGP創英角ｺﾞｼｯｸUB" panose="020B0900000000000000" pitchFamily="50" charset="-128"/>
                <a:ea typeface="HGP創英角ｺﾞｼｯｸUB" panose="020B0900000000000000" pitchFamily="50" charset="-128"/>
              </a:rPr>
              <a:t>まとめ</a:t>
            </a:r>
          </a:p>
        </p:txBody>
      </p:sp>
      <p:sp>
        <p:nvSpPr>
          <p:cNvPr id="3" name="コンテンツ プレースホルダー 2">
            <a:extLst>
              <a:ext uri="{FF2B5EF4-FFF2-40B4-BE49-F238E27FC236}">
                <a16:creationId xmlns:a16="http://schemas.microsoft.com/office/drawing/2014/main" id="{745D0F70-1603-36E0-2141-4204B94263D8}"/>
              </a:ext>
            </a:extLst>
          </p:cNvPr>
          <p:cNvSpPr>
            <a:spLocks noGrp="1"/>
          </p:cNvSpPr>
          <p:nvPr>
            <p:ph idx="1"/>
          </p:nvPr>
        </p:nvSpPr>
        <p:spPr>
          <a:xfrm>
            <a:off x="838200" y="2141537"/>
            <a:ext cx="10994571" cy="4351338"/>
          </a:xfrm>
        </p:spPr>
        <p:txBody>
          <a:bodyPr>
            <a:normAutofit fontScale="85000" lnSpcReduction="20000"/>
          </a:bodyPr>
          <a:lstStyle/>
          <a:p>
            <a:pPr marL="0" indent="0">
              <a:buNone/>
            </a:pPr>
            <a:r>
              <a:rPr kumimoji="1" lang="ja-JP" altLang="en-US" sz="3600" b="1" dirty="0"/>
              <a:t>・詳細な検索、比較</a:t>
            </a:r>
            <a:r>
              <a:rPr lang="en-US" altLang="ja-JP" sz="3600" b="1" dirty="0"/>
              <a:t>:</a:t>
            </a:r>
          </a:p>
          <a:p>
            <a:pPr marL="0" indent="0">
              <a:buNone/>
            </a:pPr>
            <a:r>
              <a:rPr lang="ja-JP" altLang="en-US" sz="3200" dirty="0"/>
              <a:t>メーカーやクラブ種別、タグ、重量、長さなどによる検索</a:t>
            </a:r>
            <a:endParaRPr lang="en-US" altLang="ja-JP" sz="3200" dirty="0"/>
          </a:p>
          <a:p>
            <a:pPr marL="0" indent="0">
              <a:buNone/>
            </a:pPr>
            <a:r>
              <a:rPr lang="ja-JP" altLang="en-US" sz="3200" dirty="0"/>
              <a:t>複数商品の同時比較</a:t>
            </a:r>
            <a:endParaRPr lang="en-US" altLang="ja-JP" sz="3200" dirty="0"/>
          </a:p>
          <a:p>
            <a:pPr marL="0" indent="0">
              <a:buNone/>
            </a:pPr>
            <a:r>
              <a:rPr lang="ja-JP" altLang="en-US" sz="3600" b="1" dirty="0">
                <a:latin typeface="+mn-ea"/>
              </a:rPr>
              <a:t>・性能、在庫の同時管理</a:t>
            </a:r>
            <a:endParaRPr lang="en-US" altLang="ja-JP" sz="3600" b="1" dirty="0">
              <a:latin typeface="+mn-ea"/>
            </a:endParaRPr>
          </a:p>
          <a:p>
            <a:pPr marL="0" indent="0">
              <a:buNone/>
            </a:pPr>
            <a:r>
              <a:rPr lang="ja-JP" altLang="en-US" sz="3200" dirty="0">
                <a:latin typeface="+mn-ea"/>
              </a:rPr>
              <a:t>スムーズな提案、在庫処理</a:t>
            </a:r>
            <a:endParaRPr lang="en-US" altLang="ja-JP" sz="3200" dirty="0">
              <a:latin typeface="+mn-ea"/>
            </a:endParaRPr>
          </a:p>
          <a:p>
            <a:pPr marL="0" indent="0">
              <a:buNone/>
            </a:pPr>
            <a:r>
              <a:rPr kumimoji="1" lang="ja-JP" altLang="en-US" sz="3600" b="1" dirty="0"/>
              <a:t>・管理者機能</a:t>
            </a:r>
            <a:r>
              <a:rPr kumimoji="1" lang="en-US" altLang="ja-JP" sz="3600" b="1" dirty="0"/>
              <a:t>:</a:t>
            </a:r>
            <a:endParaRPr lang="en-US" altLang="ja-JP" sz="3600" b="1" dirty="0"/>
          </a:p>
          <a:p>
            <a:pPr marL="0" indent="0">
              <a:buNone/>
            </a:pPr>
            <a:r>
              <a:rPr kumimoji="1" lang="ja-JP" altLang="en-US" sz="3200" dirty="0"/>
              <a:t>パスワード認証による誤操作の防止</a:t>
            </a:r>
            <a:endParaRPr kumimoji="1" lang="en-US" altLang="ja-JP" sz="3200" dirty="0"/>
          </a:p>
          <a:p>
            <a:pPr marL="0" indent="0">
              <a:buNone/>
            </a:pPr>
            <a:r>
              <a:rPr kumimoji="1" lang="ja-JP" altLang="en-US" sz="3200" dirty="0"/>
              <a:t>商品の編集、追加</a:t>
            </a:r>
            <a:endParaRPr lang="en-US" altLang="ja-JP" sz="3200" dirty="0"/>
          </a:p>
          <a:p>
            <a:pPr marL="0" indent="0">
              <a:buNone/>
            </a:pPr>
            <a:r>
              <a:rPr kumimoji="1" lang="ja-JP" altLang="en-US" sz="3200" dirty="0"/>
              <a:t>売上登録</a:t>
            </a:r>
            <a:endParaRPr kumimoji="1" lang="en-US" altLang="ja-JP" sz="3200" dirty="0"/>
          </a:p>
          <a:p>
            <a:pPr marL="0" indent="0">
              <a:buNone/>
            </a:pPr>
            <a:r>
              <a:rPr lang="ja-JP" altLang="en-US" sz="3200" dirty="0"/>
              <a:t>安全なデータ削除</a:t>
            </a:r>
            <a:endParaRPr kumimoji="1" lang="en-US" altLang="ja-JP" sz="3200" dirty="0"/>
          </a:p>
        </p:txBody>
      </p:sp>
    </p:spTree>
    <p:extLst>
      <p:ext uri="{BB962C8B-B14F-4D97-AF65-F5344CB8AC3E}">
        <p14:creationId xmlns:p14="http://schemas.microsoft.com/office/powerpoint/2010/main" val="250779144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713</Words>
  <Application>Microsoft Office PowerPoint</Application>
  <PresentationFormat>ワイド画面</PresentationFormat>
  <Paragraphs>213</Paragraphs>
  <Slides>13</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13</vt:i4>
      </vt:variant>
    </vt:vector>
  </HeadingPairs>
  <TitlesOfParts>
    <vt:vector size="20" baseType="lpstr">
      <vt:lpstr>HGP創英角ｺﾞｼｯｸUB</vt:lpstr>
      <vt:lpstr>HGSｺﾞｼｯｸE</vt:lpstr>
      <vt:lpstr>HGS創英角ｺﾞｼｯｸUB</vt:lpstr>
      <vt:lpstr>游ゴシック</vt:lpstr>
      <vt:lpstr>游ゴシック Light</vt:lpstr>
      <vt:lpstr>Arial</vt:lpstr>
      <vt:lpstr>Office テーマ</vt:lpstr>
      <vt:lpstr>ゴルフクラブショップ 在庫管理システム</vt:lpstr>
      <vt:lpstr>システムの内容</vt:lpstr>
      <vt:lpstr>ペルソナ分析</vt:lpstr>
      <vt:lpstr>ストーリーボード</vt:lpstr>
      <vt:lpstr>機能</vt:lpstr>
      <vt:lpstr>DB構成(1.makers)</vt:lpstr>
      <vt:lpstr>DB構成(2.products)</vt:lpstr>
      <vt:lpstr>DB構成(3.inventory)</vt:lpstr>
      <vt:lpstr>DB構成(4.sales)</vt:lpstr>
      <vt:lpstr>アプリ構成・データフロー</vt:lpstr>
      <vt:lpstr>技術的ハイライト  ② 安全な削除ロジック</vt:lpstr>
      <vt:lpstr>デモ動画  https://drive.google.com/file/d/1lIyLLjzyl3g3tjvTrCQ12I6jonGxDhLX/view?usp=drive_link</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智希 栗原</dc:creator>
  <cp:lastModifiedBy>智希 栗原</cp:lastModifiedBy>
  <cp:revision>2</cp:revision>
  <dcterms:created xsi:type="dcterms:W3CDTF">2026-01-18T00:01:20Z</dcterms:created>
  <dcterms:modified xsi:type="dcterms:W3CDTF">2026-01-18T01:09:21Z</dcterms:modified>
</cp:coreProperties>
</file>